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065fa1de-3cf4-2065-a985-2c2a638a671c}">
          <p14:sldIdLst>
            <p14:sldId id="256"/>
          </p14:sldIdLst>
        </p14:section>
        <p14:section name="Technology" id="{bd571974-6983-aef1-99c0-c040978ab004}">
          <p14:sldIdLst>
            <p14:sldId id="257"/>
            <p14:sldId id="258"/>
            <p14:sldId id="259"/>
            <p14:sldId id="260"/>
          </p14:sldIdLst>
        </p14:section>
        <p14:section name="Silicon plan" id="{d1a9f0ca-1ad5-89af-69af-3ded03dca343}">
          <p14:sldIdLst>
            <p14:sldId id="261"/>
            <p14:sldId id="262"/>
            <p14:sldId id="263"/>
          </p14:sldIdLst>
        </p14:section>
        <p14:section name="Budget" id="{6c925972-0c51-3136-3494-ca4ee0eadd10}">
          <p14:sldIdLst>
            <p14:sldId id="264"/>
            <p14:sldId id="265"/>
            <p14:sldId id="266"/>
          </p14:sldIdLst>
        </p14:section>
        <p14:section name="Partners" id="{86b635c9-8f8d-7748-7196-44b192fbb6de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2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27"/>
                </a:solidFill>
                <a:latin typeface="+mn-lt"/>
              </a:rPr>
              <a:t>Compute per watt (16-bit TFLOPS/W)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TFLOPS/W</c:v>
                </c:pt>
              </c:strCache>
            </c:strRef>
          </c:tx>
          <c:spPr>
            <a:solidFill>
              <a:srgbClr val="2557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1A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57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3BC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3BCE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SF16</c:v>
                  </c:pt>
                  <c:pt idx="1">
                    <c:v>FP16</c:v>
                  </c:pt>
                  <c:pt idx="2">
                    <c:v>BF16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8.6</c:v>
                </c:pt>
                <c:pt idx="1">
                  <c:v>3.4</c:v>
                </c:pt>
                <c:pt idx="2">
                  <c:v>4.11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141A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0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2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27"/>
                </a:solidFill>
                <a:latin typeface="+mn-lt"/>
              </a:rPr>
              <a:t>Compute per mm² (16-bit TFLOPS/mm²)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TFLOPS/mm²</c:v>
                </c:pt>
              </c:strCache>
            </c:strRef>
          </c:tx>
          <c:spPr>
            <a:solidFill>
              <a:srgbClr val="2557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1A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57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3BC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3BCE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SF16</c:v>
                  </c:pt>
                  <c:pt idx="1">
                    <c:v>FP16</c:v>
                  </c:pt>
                  <c:pt idx="2">
                    <c:v>BF16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60.1</c:v>
                </c:pt>
                <c:pt idx="1">
                  <c:v>35.4</c:v>
                </c:pt>
                <c:pt idx="2">
                  <c:v>40.7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400" u="none">
                  <a:solidFill>
                    <a:srgbClr val="141A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0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9EDF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9EDF6"/>
                </a:solidFill>
                <a:latin typeface="+mn-lt"/>
              </a:rPr>
              <a:t>SF16 compute per watt, times FP16 and BF16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vs FP16</c:v>
                </c:pt>
              </c:strCache>
            </c:strRef>
          </c:tx>
          <c:spPr>
            <a:solidFill>
              <a:srgbClr val="7AA7FF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9EDF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45 nm</c:v>
                  </c:pt>
                  <c:pt idx="1">
                    <c:v>3 nm</c:v>
                  </c:pt>
                  <c:pt idx="2">
                    <c:v>2 nm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2.88</c:v>
                </c:pt>
                <c:pt idx="1">
                  <c:v>2.65</c:v>
                </c:pt>
                <c:pt idx="2">
                  <c:v>2.53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vs BF16</c:v>
                </c:pt>
              </c:strCache>
            </c:strRef>
          </c:tx>
          <c:spPr>
            <a:solidFill>
              <a:srgbClr val="4D72C9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9EDF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45 nm</c:v>
                  </c:pt>
                  <c:pt idx="1">
                    <c:v>3 nm</c:v>
                  </c:pt>
                  <c:pt idx="2">
                    <c:v>2 nm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2.44</c:v>
                </c:pt>
                <c:pt idx="1">
                  <c:v>2.24</c:v>
                </c:pt>
                <c:pt idx="2">
                  <c:v>2.09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E9EDF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4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9AA4B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2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27"/>
                </a:solidFill>
                <a:latin typeface="+mn-lt"/>
              </a:rPr>
              <a:t>Planning cost per 800 mm² chip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Plan, USD per chip</c:v>
                </c:pt>
              </c:strCache>
            </c:strRef>
          </c:tx>
          <c:spPr>
            <a:solidFill>
              <a:srgbClr val="2557D6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1A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Silicon</c:v>
                  </c:pt>
                  <c:pt idx="1">
                    <c:v>HBM3E ×4</c:v>
                  </c:pt>
                  <c:pt idx="2">
                    <c:v>Packaging</c:v>
                  </c:pt>
                  <c:pt idx="3">
                    <c:v>Assembly, test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750</c:v>
                </c:pt>
                <c:pt idx="1">
                  <c:v>1400</c:v>
                </c:pt>
                <c:pt idx="2">
                  <c:v>900</c:v>
                </c:pt>
                <c:pt idx="3">
                  <c:v>500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41A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0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9EDF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9EDF6"/>
                </a:solidFill>
                <a:latin typeface="+mn-lt"/>
              </a:rPr>
              <a:t>N2 wafer starts per year (plan)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N2 wafers</c:v>
                </c:pt>
              </c:strCache>
            </c:strRef>
          </c:tx>
          <c:spPr>
            <a:solidFill>
              <a:srgbClr val="7AA7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9EDF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2028</c:v>
                  </c:pt>
                  <c:pt idx="1">
                    <c:v>2029</c:v>
                  </c:pt>
                  <c:pt idx="2">
                    <c:v>2030</c:v>
                  </c:pt>
                  <c:pt idx="3">
                    <c:v>2031</c:v>
                  </c:pt>
                  <c:pt idx="4">
                    <c:v>2032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</c:v>
                </c:pt>
                <c:pt idx="1">
                  <c:v>2000</c:v>
                </c:pt>
                <c:pt idx="2">
                  <c:v>3400</c:v>
                </c:pt>
                <c:pt idx="3">
                  <c:v>5800</c:v>
                </c:pt>
                <c:pt idx="4">
                  <c:v>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E9EDF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4B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superfloat.si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spc="-10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superfloat.si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3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spc="-100" kern="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mark" descr="/private/tmp/claude-501/-Users-aoxo-vscode-superfloat/e80d09e0-888f-4a7c-8c1c-a7ec6f4d69ec/scratchpad/deck/assets/mark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66928"/>
            <a:ext cx="420624" cy="420624"/>
          </a:xfrm>
          <a:prstGeom prst="rect">
            <a:avLst/>
          </a:prstGeom>
        </p:spPr>
      </p:pic>
      <p:pic>
        <p:nvPicPr>
          <p:cNvPr id="3" name="logo-wordmark" descr="/private/tmp/claude-501/-Users-aoxo-vscode-superfloat/e80d09e0-888f-4a7c-8c1c-a7ec6f4d69ec/scratchpad/deck/assets/wordmark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651053"/>
            <a:ext cx="1232526" cy="25237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 BRIEFING  ·  ATREIDES 2 NM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69748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Atreides.</a:t>
            </a:r>
            <a:endParaRPr lang="en-US" sz="6000" dirty="0"/>
          </a:p>
          <a:p>
            <a:pPr indent="0" marL="0">
              <a:buNone/>
            </a:pPr>
            <a:r>
              <a:rPr lang="en-US" sz="6000" b="1" spc="-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2 nm.</a:t>
            </a:r>
            <a:endParaRPr lang="en-US" sz="60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46177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SF16 accelerator stands, what the 2 nm program costs, and what we need from foundry and design-service partners.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superfloat.si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October 2026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7882128" y="621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FLOW / SF16</a:t>
            </a:r>
            <a:endParaRPr lang="en-US" sz="1200" dirty="0"/>
          </a:p>
        </p:txBody>
      </p:sp>
      <p:sp>
        <p:nvSpPr>
          <p:cNvPr id="10" name="grid-0-0"/>
          <p:cNvSpPr/>
          <p:nvPr/>
        </p:nvSpPr>
        <p:spPr>
          <a:xfrm>
            <a:off x="7882128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" name="grid-0-1"/>
          <p:cNvSpPr/>
          <p:nvPr/>
        </p:nvSpPr>
        <p:spPr>
          <a:xfrm>
            <a:off x="8165592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" name="grid-0-2"/>
          <p:cNvSpPr/>
          <p:nvPr/>
        </p:nvSpPr>
        <p:spPr>
          <a:xfrm>
            <a:off x="8449056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" name="grid-0-3"/>
          <p:cNvSpPr/>
          <p:nvPr/>
        </p:nvSpPr>
        <p:spPr>
          <a:xfrm>
            <a:off x="8732520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" name="grid-0-4"/>
          <p:cNvSpPr/>
          <p:nvPr/>
        </p:nvSpPr>
        <p:spPr>
          <a:xfrm>
            <a:off x="9015984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" name="grid-0-5"/>
          <p:cNvSpPr/>
          <p:nvPr/>
        </p:nvSpPr>
        <p:spPr>
          <a:xfrm>
            <a:off x="9299448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" name="grid-0-6"/>
          <p:cNvSpPr/>
          <p:nvPr/>
        </p:nvSpPr>
        <p:spPr>
          <a:xfrm>
            <a:off x="9582912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" name="grid-0-7"/>
          <p:cNvSpPr/>
          <p:nvPr/>
        </p:nvSpPr>
        <p:spPr>
          <a:xfrm>
            <a:off x="9866376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" name="grid-0-8"/>
          <p:cNvSpPr/>
          <p:nvPr/>
        </p:nvSpPr>
        <p:spPr>
          <a:xfrm>
            <a:off x="10149840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" name="grid-0-9"/>
          <p:cNvSpPr/>
          <p:nvPr/>
        </p:nvSpPr>
        <p:spPr>
          <a:xfrm>
            <a:off x="10433304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0" name="grid-0-10"/>
          <p:cNvSpPr/>
          <p:nvPr/>
        </p:nvSpPr>
        <p:spPr>
          <a:xfrm>
            <a:off x="10716768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23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1" name="grid-0-11"/>
          <p:cNvSpPr/>
          <p:nvPr/>
        </p:nvSpPr>
        <p:spPr>
          <a:xfrm>
            <a:off x="11000232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2" name="grid-0-12"/>
          <p:cNvSpPr/>
          <p:nvPr/>
        </p:nvSpPr>
        <p:spPr>
          <a:xfrm>
            <a:off x="11283696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3" name="grid-0-13"/>
          <p:cNvSpPr/>
          <p:nvPr/>
        </p:nvSpPr>
        <p:spPr>
          <a:xfrm>
            <a:off x="11567160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4" name="grid-1-0"/>
          <p:cNvSpPr/>
          <p:nvPr/>
        </p:nvSpPr>
        <p:spPr>
          <a:xfrm>
            <a:off x="7882128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5" name="grid-1-1"/>
          <p:cNvSpPr/>
          <p:nvPr/>
        </p:nvSpPr>
        <p:spPr>
          <a:xfrm>
            <a:off x="8165592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6" name="grid-1-2"/>
          <p:cNvSpPr/>
          <p:nvPr/>
        </p:nvSpPr>
        <p:spPr>
          <a:xfrm>
            <a:off x="8449056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7" name="grid-1-3"/>
          <p:cNvSpPr/>
          <p:nvPr/>
        </p:nvSpPr>
        <p:spPr>
          <a:xfrm>
            <a:off x="8732520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8" name="grid-1-4"/>
          <p:cNvSpPr/>
          <p:nvPr/>
        </p:nvSpPr>
        <p:spPr>
          <a:xfrm>
            <a:off x="9015984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9" name="grid-1-5"/>
          <p:cNvSpPr/>
          <p:nvPr/>
        </p:nvSpPr>
        <p:spPr>
          <a:xfrm>
            <a:off x="9299448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0" name="grid-1-6"/>
          <p:cNvSpPr/>
          <p:nvPr/>
        </p:nvSpPr>
        <p:spPr>
          <a:xfrm>
            <a:off x="9582912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1" name="grid-1-7"/>
          <p:cNvSpPr/>
          <p:nvPr/>
        </p:nvSpPr>
        <p:spPr>
          <a:xfrm>
            <a:off x="9866376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2" name="grid-1-8"/>
          <p:cNvSpPr/>
          <p:nvPr/>
        </p:nvSpPr>
        <p:spPr>
          <a:xfrm>
            <a:off x="10149840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3" name="grid-1-9"/>
          <p:cNvSpPr/>
          <p:nvPr/>
        </p:nvSpPr>
        <p:spPr>
          <a:xfrm>
            <a:off x="10433304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37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4" name="grid-1-10"/>
          <p:cNvSpPr/>
          <p:nvPr/>
        </p:nvSpPr>
        <p:spPr>
          <a:xfrm>
            <a:off x="10716768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5" name="grid-1-11"/>
          <p:cNvSpPr/>
          <p:nvPr/>
        </p:nvSpPr>
        <p:spPr>
          <a:xfrm>
            <a:off x="11000232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6" name="grid-1-12"/>
          <p:cNvSpPr/>
          <p:nvPr/>
        </p:nvSpPr>
        <p:spPr>
          <a:xfrm>
            <a:off x="11283696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7" name="grid-1-13"/>
          <p:cNvSpPr/>
          <p:nvPr/>
        </p:nvSpPr>
        <p:spPr>
          <a:xfrm>
            <a:off x="11567160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8" name="grid-2-0"/>
          <p:cNvSpPr/>
          <p:nvPr/>
        </p:nvSpPr>
        <p:spPr>
          <a:xfrm>
            <a:off x="7882128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9" name="grid-2-1"/>
          <p:cNvSpPr/>
          <p:nvPr/>
        </p:nvSpPr>
        <p:spPr>
          <a:xfrm>
            <a:off x="8165592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0" name="grid-2-2"/>
          <p:cNvSpPr/>
          <p:nvPr/>
        </p:nvSpPr>
        <p:spPr>
          <a:xfrm>
            <a:off x="8449056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1" name="grid-2-3"/>
          <p:cNvSpPr/>
          <p:nvPr/>
        </p:nvSpPr>
        <p:spPr>
          <a:xfrm>
            <a:off x="8732520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2" name="grid-2-4"/>
          <p:cNvSpPr/>
          <p:nvPr/>
        </p:nvSpPr>
        <p:spPr>
          <a:xfrm>
            <a:off x="9015984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3" name="grid-2-5"/>
          <p:cNvSpPr/>
          <p:nvPr/>
        </p:nvSpPr>
        <p:spPr>
          <a:xfrm>
            <a:off x="9299448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4" name="grid-2-6"/>
          <p:cNvSpPr/>
          <p:nvPr/>
        </p:nvSpPr>
        <p:spPr>
          <a:xfrm>
            <a:off x="9582912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5" name="grid-2-7"/>
          <p:cNvSpPr/>
          <p:nvPr/>
        </p:nvSpPr>
        <p:spPr>
          <a:xfrm>
            <a:off x="9866376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6" name="grid-2-8"/>
          <p:cNvSpPr/>
          <p:nvPr/>
        </p:nvSpPr>
        <p:spPr>
          <a:xfrm>
            <a:off x="10149840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51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7" name="grid-2-9"/>
          <p:cNvSpPr/>
          <p:nvPr/>
        </p:nvSpPr>
        <p:spPr>
          <a:xfrm>
            <a:off x="10433304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8" name="grid-2-10"/>
          <p:cNvSpPr/>
          <p:nvPr/>
        </p:nvSpPr>
        <p:spPr>
          <a:xfrm>
            <a:off x="10716768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9" name="grid-2-11"/>
          <p:cNvSpPr/>
          <p:nvPr/>
        </p:nvSpPr>
        <p:spPr>
          <a:xfrm>
            <a:off x="11000232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0" name="grid-2-12"/>
          <p:cNvSpPr/>
          <p:nvPr/>
        </p:nvSpPr>
        <p:spPr>
          <a:xfrm>
            <a:off x="11283696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1" name="grid-2-13"/>
          <p:cNvSpPr/>
          <p:nvPr/>
        </p:nvSpPr>
        <p:spPr>
          <a:xfrm>
            <a:off x="11567160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2" name="grid-3-0"/>
          <p:cNvSpPr/>
          <p:nvPr/>
        </p:nvSpPr>
        <p:spPr>
          <a:xfrm>
            <a:off x="7882128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3" name="grid-3-1"/>
          <p:cNvSpPr/>
          <p:nvPr/>
        </p:nvSpPr>
        <p:spPr>
          <a:xfrm>
            <a:off x="8165592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4" name="grid-3-2"/>
          <p:cNvSpPr/>
          <p:nvPr/>
        </p:nvSpPr>
        <p:spPr>
          <a:xfrm>
            <a:off x="8449056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5" name="grid-3-3"/>
          <p:cNvSpPr/>
          <p:nvPr/>
        </p:nvSpPr>
        <p:spPr>
          <a:xfrm>
            <a:off x="8732520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6" name="grid-3-4"/>
          <p:cNvSpPr/>
          <p:nvPr/>
        </p:nvSpPr>
        <p:spPr>
          <a:xfrm>
            <a:off x="9015984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7" name="grid-3-5"/>
          <p:cNvSpPr/>
          <p:nvPr/>
        </p:nvSpPr>
        <p:spPr>
          <a:xfrm>
            <a:off x="9299448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8" name="grid-3-6"/>
          <p:cNvSpPr/>
          <p:nvPr/>
        </p:nvSpPr>
        <p:spPr>
          <a:xfrm>
            <a:off x="9582912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9" name="grid-3-7"/>
          <p:cNvSpPr/>
          <p:nvPr/>
        </p:nvSpPr>
        <p:spPr>
          <a:xfrm>
            <a:off x="9866376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/>
          </a:solidFill>
          <a:ln w="15875">
            <a:solidFill>
              <a:srgbClr val="E9EDF6"/>
            </a:solidFill>
            <a:prstDash val="solid"/>
          </a:ln>
        </p:spPr>
      </p:sp>
      <p:sp>
        <p:nvSpPr>
          <p:cNvPr id="60" name="grid-3-8"/>
          <p:cNvSpPr/>
          <p:nvPr/>
        </p:nvSpPr>
        <p:spPr>
          <a:xfrm>
            <a:off x="10149840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1" name="grid-3-9"/>
          <p:cNvSpPr/>
          <p:nvPr/>
        </p:nvSpPr>
        <p:spPr>
          <a:xfrm>
            <a:off x="10433304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2" name="grid-3-10"/>
          <p:cNvSpPr/>
          <p:nvPr/>
        </p:nvSpPr>
        <p:spPr>
          <a:xfrm>
            <a:off x="10716768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3" name="grid-3-11"/>
          <p:cNvSpPr/>
          <p:nvPr/>
        </p:nvSpPr>
        <p:spPr>
          <a:xfrm>
            <a:off x="11000232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4" name="grid-3-12"/>
          <p:cNvSpPr/>
          <p:nvPr/>
        </p:nvSpPr>
        <p:spPr>
          <a:xfrm>
            <a:off x="11283696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5" name="grid-3-13"/>
          <p:cNvSpPr/>
          <p:nvPr/>
        </p:nvSpPr>
        <p:spPr>
          <a:xfrm>
            <a:off x="11567160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6" name="grid-4-0"/>
          <p:cNvSpPr/>
          <p:nvPr/>
        </p:nvSpPr>
        <p:spPr>
          <a:xfrm>
            <a:off x="7882128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7" name="grid-4-1"/>
          <p:cNvSpPr/>
          <p:nvPr/>
        </p:nvSpPr>
        <p:spPr>
          <a:xfrm>
            <a:off x="8165592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8" name="grid-4-2"/>
          <p:cNvSpPr/>
          <p:nvPr/>
        </p:nvSpPr>
        <p:spPr>
          <a:xfrm>
            <a:off x="8449056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9" name="grid-4-3"/>
          <p:cNvSpPr/>
          <p:nvPr/>
        </p:nvSpPr>
        <p:spPr>
          <a:xfrm>
            <a:off x="8732520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0" name="grid-4-4"/>
          <p:cNvSpPr/>
          <p:nvPr/>
        </p:nvSpPr>
        <p:spPr>
          <a:xfrm>
            <a:off x="9015984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1" name="grid-4-5"/>
          <p:cNvSpPr/>
          <p:nvPr/>
        </p:nvSpPr>
        <p:spPr>
          <a:xfrm>
            <a:off x="9299448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2" name="grid-4-6"/>
          <p:cNvSpPr/>
          <p:nvPr/>
        </p:nvSpPr>
        <p:spPr>
          <a:xfrm>
            <a:off x="9582912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67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3" name="grid-4-7"/>
          <p:cNvSpPr/>
          <p:nvPr/>
        </p:nvSpPr>
        <p:spPr>
          <a:xfrm>
            <a:off x="9866376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4" name="grid-4-8"/>
          <p:cNvSpPr/>
          <p:nvPr/>
        </p:nvSpPr>
        <p:spPr>
          <a:xfrm>
            <a:off x="10149840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5" name="grid-4-9"/>
          <p:cNvSpPr/>
          <p:nvPr/>
        </p:nvSpPr>
        <p:spPr>
          <a:xfrm>
            <a:off x="10433304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6" name="grid-4-10"/>
          <p:cNvSpPr/>
          <p:nvPr/>
        </p:nvSpPr>
        <p:spPr>
          <a:xfrm>
            <a:off x="10716768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7" name="grid-4-11"/>
          <p:cNvSpPr/>
          <p:nvPr/>
        </p:nvSpPr>
        <p:spPr>
          <a:xfrm>
            <a:off x="11000232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8" name="grid-4-12"/>
          <p:cNvSpPr/>
          <p:nvPr/>
        </p:nvSpPr>
        <p:spPr>
          <a:xfrm>
            <a:off x="11283696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9" name="grid-4-13"/>
          <p:cNvSpPr/>
          <p:nvPr/>
        </p:nvSpPr>
        <p:spPr>
          <a:xfrm>
            <a:off x="11567160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0" name="grid-5-0"/>
          <p:cNvSpPr/>
          <p:nvPr/>
        </p:nvSpPr>
        <p:spPr>
          <a:xfrm>
            <a:off x="7882128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1" name="grid-5-1"/>
          <p:cNvSpPr/>
          <p:nvPr/>
        </p:nvSpPr>
        <p:spPr>
          <a:xfrm>
            <a:off x="8165592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2" name="grid-5-2"/>
          <p:cNvSpPr/>
          <p:nvPr/>
        </p:nvSpPr>
        <p:spPr>
          <a:xfrm>
            <a:off x="8449056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3" name="grid-5-3"/>
          <p:cNvSpPr/>
          <p:nvPr/>
        </p:nvSpPr>
        <p:spPr>
          <a:xfrm>
            <a:off x="8732520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4" name="grid-5-4"/>
          <p:cNvSpPr/>
          <p:nvPr/>
        </p:nvSpPr>
        <p:spPr>
          <a:xfrm>
            <a:off x="9015984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5" name="grid-5-5"/>
          <p:cNvSpPr/>
          <p:nvPr/>
        </p:nvSpPr>
        <p:spPr>
          <a:xfrm>
            <a:off x="9299448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59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6" name="grid-5-6"/>
          <p:cNvSpPr/>
          <p:nvPr/>
        </p:nvSpPr>
        <p:spPr>
          <a:xfrm>
            <a:off x="9582912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7" name="grid-5-7"/>
          <p:cNvSpPr/>
          <p:nvPr/>
        </p:nvSpPr>
        <p:spPr>
          <a:xfrm>
            <a:off x="9866376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8" name="grid-5-8"/>
          <p:cNvSpPr/>
          <p:nvPr/>
        </p:nvSpPr>
        <p:spPr>
          <a:xfrm>
            <a:off x="10149840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9" name="grid-5-9"/>
          <p:cNvSpPr/>
          <p:nvPr/>
        </p:nvSpPr>
        <p:spPr>
          <a:xfrm>
            <a:off x="10433304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0" name="grid-5-10"/>
          <p:cNvSpPr/>
          <p:nvPr/>
        </p:nvSpPr>
        <p:spPr>
          <a:xfrm>
            <a:off x="10716768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1" name="grid-5-11"/>
          <p:cNvSpPr/>
          <p:nvPr/>
        </p:nvSpPr>
        <p:spPr>
          <a:xfrm>
            <a:off x="11000232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2" name="grid-5-12"/>
          <p:cNvSpPr/>
          <p:nvPr/>
        </p:nvSpPr>
        <p:spPr>
          <a:xfrm>
            <a:off x="11283696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3" name="grid-5-13"/>
          <p:cNvSpPr/>
          <p:nvPr/>
        </p:nvSpPr>
        <p:spPr>
          <a:xfrm>
            <a:off x="11567160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4" name="grid-6-0"/>
          <p:cNvSpPr/>
          <p:nvPr/>
        </p:nvSpPr>
        <p:spPr>
          <a:xfrm>
            <a:off x="7882128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5" name="grid-6-1"/>
          <p:cNvSpPr/>
          <p:nvPr/>
        </p:nvSpPr>
        <p:spPr>
          <a:xfrm>
            <a:off x="8165592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6" name="grid-6-2"/>
          <p:cNvSpPr/>
          <p:nvPr/>
        </p:nvSpPr>
        <p:spPr>
          <a:xfrm>
            <a:off x="8449056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7" name="grid-6-3"/>
          <p:cNvSpPr/>
          <p:nvPr/>
        </p:nvSpPr>
        <p:spPr>
          <a:xfrm>
            <a:off x="8732520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8" name="grid-6-4"/>
          <p:cNvSpPr/>
          <p:nvPr/>
        </p:nvSpPr>
        <p:spPr>
          <a:xfrm>
            <a:off x="9015984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51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9" name="grid-6-5"/>
          <p:cNvSpPr/>
          <p:nvPr/>
        </p:nvSpPr>
        <p:spPr>
          <a:xfrm>
            <a:off x="9299448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0" name="grid-6-6"/>
          <p:cNvSpPr/>
          <p:nvPr/>
        </p:nvSpPr>
        <p:spPr>
          <a:xfrm>
            <a:off x="9582912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1" name="grid-6-7"/>
          <p:cNvSpPr/>
          <p:nvPr/>
        </p:nvSpPr>
        <p:spPr>
          <a:xfrm>
            <a:off x="9866376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2" name="grid-6-8"/>
          <p:cNvSpPr/>
          <p:nvPr/>
        </p:nvSpPr>
        <p:spPr>
          <a:xfrm>
            <a:off x="10149840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3" name="grid-6-9"/>
          <p:cNvSpPr/>
          <p:nvPr/>
        </p:nvSpPr>
        <p:spPr>
          <a:xfrm>
            <a:off x="10433304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4" name="grid-6-10"/>
          <p:cNvSpPr/>
          <p:nvPr/>
        </p:nvSpPr>
        <p:spPr>
          <a:xfrm>
            <a:off x="10716768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5" name="grid-6-11"/>
          <p:cNvSpPr/>
          <p:nvPr/>
        </p:nvSpPr>
        <p:spPr>
          <a:xfrm>
            <a:off x="11000232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6" name="grid-6-12"/>
          <p:cNvSpPr/>
          <p:nvPr/>
        </p:nvSpPr>
        <p:spPr>
          <a:xfrm>
            <a:off x="11283696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7" name="grid-6-13"/>
          <p:cNvSpPr/>
          <p:nvPr/>
        </p:nvSpPr>
        <p:spPr>
          <a:xfrm>
            <a:off x="11567160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8" name="grid-7-0"/>
          <p:cNvSpPr/>
          <p:nvPr/>
        </p:nvSpPr>
        <p:spPr>
          <a:xfrm>
            <a:off x="7882128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9" name="grid-7-1"/>
          <p:cNvSpPr/>
          <p:nvPr/>
        </p:nvSpPr>
        <p:spPr>
          <a:xfrm>
            <a:off x="8165592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0" name="grid-7-2"/>
          <p:cNvSpPr/>
          <p:nvPr/>
        </p:nvSpPr>
        <p:spPr>
          <a:xfrm>
            <a:off x="8449056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1" name="grid-7-3"/>
          <p:cNvSpPr/>
          <p:nvPr/>
        </p:nvSpPr>
        <p:spPr>
          <a:xfrm>
            <a:off x="8732520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43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2" name="grid-7-4"/>
          <p:cNvSpPr/>
          <p:nvPr/>
        </p:nvSpPr>
        <p:spPr>
          <a:xfrm>
            <a:off x="9015984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3" name="grid-7-5"/>
          <p:cNvSpPr/>
          <p:nvPr/>
        </p:nvSpPr>
        <p:spPr>
          <a:xfrm>
            <a:off x="9299448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4" name="grid-7-6"/>
          <p:cNvSpPr/>
          <p:nvPr/>
        </p:nvSpPr>
        <p:spPr>
          <a:xfrm>
            <a:off x="9582912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5" name="grid-7-7"/>
          <p:cNvSpPr/>
          <p:nvPr/>
        </p:nvSpPr>
        <p:spPr>
          <a:xfrm>
            <a:off x="9866376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6" name="grid-7-8"/>
          <p:cNvSpPr/>
          <p:nvPr/>
        </p:nvSpPr>
        <p:spPr>
          <a:xfrm>
            <a:off x="10149840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7" name="grid-7-9"/>
          <p:cNvSpPr/>
          <p:nvPr/>
        </p:nvSpPr>
        <p:spPr>
          <a:xfrm>
            <a:off x="10433304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8" name="grid-7-10"/>
          <p:cNvSpPr/>
          <p:nvPr/>
        </p:nvSpPr>
        <p:spPr>
          <a:xfrm>
            <a:off x="10716768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9" name="grid-7-11"/>
          <p:cNvSpPr/>
          <p:nvPr/>
        </p:nvSpPr>
        <p:spPr>
          <a:xfrm>
            <a:off x="11000232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0" name="grid-7-12"/>
          <p:cNvSpPr/>
          <p:nvPr/>
        </p:nvSpPr>
        <p:spPr>
          <a:xfrm>
            <a:off x="11283696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1" name="grid-7-13"/>
          <p:cNvSpPr/>
          <p:nvPr/>
        </p:nvSpPr>
        <p:spPr>
          <a:xfrm>
            <a:off x="11567160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2" name="grid-8-0"/>
          <p:cNvSpPr/>
          <p:nvPr/>
        </p:nvSpPr>
        <p:spPr>
          <a:xfrm>
            <a:off x="7882128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3" name="grid-8-1"/>
          <p:cNvSpPr/>
          <p:nvPr/>
        </p:nvSpPr>
        <p:spPr>
          <a:xfrm>
            <a:off x="8165592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4" name="grid-8-2"/>
          <p:cNvSpPr/>
          <p:nvPr/>
        </p:nvSpPr>
        <p:spPr>
          <a:xfrm>
            <a:off x="8449056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35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5" name="grid-8-3"/>
          <p:cNvSpPr/>
          <p:nvPr/>
        </p:nvSpPr>
        <p:spPr>
          <a:xfrm>
            <a:off x="8732520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6" name="grid-8-4"/>
          <p:cNvSpPr/>
          <p:nvPr/>
        </p:nvSpPr>
        <p:spPr>
          <a:xfrm>
            <a:off x="9015984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7" name="grid-8-5"/>
          <p:cNvSpPr/>
          <p:nvPr/>
        </p:nvSpPr>
        <p:spPr>
          <a:xfrm>
            <a:off x="9299448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8" name="grid-8-6"/>
          <p:cNvSpPr/>
          <p:nvPr/>
        </p:nvSpPr>
        <p:spPr>
          <a:xfrm>
            <a:off x="9582912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9" name="grid-8-7"/>
          <p:cNvSpPr/>
          <p:nvPr/>
        </p:nvSpPr>
        <p:spPr>
          <a:xfrm>
            <a:off x="9866376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0" name="grid-8-8"/>
          <p:cNvSpPr/>
          <p:nvPr/>
        </p:nvSpPr>
        <p:spPr>
          <a:xfrm>
            <a:off x="10149840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1" name="grid-8-9"/>
          <p:cNvSpPr/>
          <p:nvPr/>
        </p:nvSpPr>
        <p:spPr>
          <a:xfrm>
            <a:off x="10433304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2" name="grid-8-10"/>
          <p:cNvSpPr/>
          <p:nvPr/>
        </p:nvSpPr>
        <p:spPr>
          <a:xfrm>
            <a:off x="10716768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3" name="grid-8-11"/>
          <p:cNvSpPr/>
          <p:nvPr/>
        </p:nvSpPr>
        <p:spPr>
          <a:xfrm>
            <a:off x="11000232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4" name="grid-8-12"/>
          <p:cNvSpPr/>
          <p:nvPr/>
        </p:nvSpPr>
        <p:spPr>
          <a:xfrm>
            <a:off x="11283696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5" name="grid-8-13"/>
          <p:cNvSpPr/>
          <p:nvPr/>
        </p:nvSpPr>
        <p:spPr>
          <a:xfrm>
            <a:off x="11567160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6" name="grid-9-0"/>
          <p:cNvSpPr/>
          <p:nvPr/>
        </p:nvSpPr>
        <p:spPr>
          <a:xfrm>
            <a:off x="7882128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7" name="grid-9-1"/>
          <p:cNvSpPr/>
          <p:nvPr/>
        </p:nvSpPr>
        <p:spPr>
          <a:xfrm>
            <a:off x="8165592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27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8" name="grid-9-2"/>
          <p:cNvSpPr/>
          <p:nvPr/>
        </p:nvSpPr>
        <p:spPr>
          <a:xfrm>
            <a:off x="8449056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9" name="grid-9-3"/>
          <p:cNvSpPr/>
          <p:nvPr/>
        </p:nvSpPr>
        <p:spPr>
          <a:xfrm>
            <a:off x="8732520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0" name="grid-9-4"/>
          <p:cNvSpPr/>
          <p:nvPr/>
        </p:nvSpPr>
        <p:spPr>
          <a:xfrm>
            <a:off x="9015984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1" name="grid-9-5"/>
          <p:cNvSpPr/>
          <p:nvPr/>
        </p:nvSpPr>
        <p:spPr>
          <a:xfrm>
            <a:off x="9299448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2" name="grid-9-6"/>
          <p:cNvSpPr/>
          <p:nvPr/>
        </p:nvSpPr>
        <p:spPr>
          <a:xfrm>
            <a:off x="9582912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3" name="grid-9-7"/>
          <p:cNvSpPr/>
          <p:nvPr/>
        </p:nvSpPr>
        <p:spPr>
          <a:xfrm>
            <a:off x="9866376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4" name="grid-9-8"/>
          <p:cNvSpPr/>
          <p:nvPr/>
        </p:nvSpPr>
        <p:spPr>
          <a:xfrm>
            <a:off x="10149840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5" name="grid-9-9"/>
          <p:cNvSpPr/>
          <p:nvPr/>
        </p:nvSpPr>
        <p:spPr>
          <a:xfrm>
            <a:off x="10433304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6" name="grid-9-10"/>
          <p:cNvSpPr/>
          <p:nvPr/>
        </p:nvSpPr>
        <p:spPr>
          <a:xfrm>
            <a:off x="10716768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7" name="grid-9-11"/>
          <p:cNvSpPr/>
          <p:nvPr/>
        </p:nvSpPr>
        <p:spPr>
          <a:xfrm>
            <a:off x="11000232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8" name="grid-9-12"/>
          <p:cNvSpPr/>
          <p:nvPr/>
        </p:nvSpPr>
        <p:spPr>
          <a:xfrm>
            <a:off x="11283696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9" name="grid-9-13"/>
          <p:cNvSpPr/>
          <p:nvPr/>
        </p:nvSpPr>
        <p:spPr>
          <a:xfrm>
            <a:off x="11567160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0" name="grid-10-0"/>
          <p:cNvSpPr/>
          <p:nvPr/>
        </p:nvSpPr>
        <p:spPr>
          <a:xfrm>
            <a:off x="7882128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19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1" name="grid-10-1"/>
          <p:cNvSpPr/>
          <p:nvPr/>
        </p:nvSpPr>
        <p:spPr>
          <a:xfrm>
            <a:off x="8165592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2" name="grid-10-2"/>
          <p:cNvSpPr/>
          <p:nvPr/>
        </p:nvSpPr>
        <p:spPr>
          <a:xfrm>
            <a:off x="8449056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3" name="grid-10-3"/>
          <p:cNvSpPr/>
          <p:nvPr/>
        </p:nvSpPr>
        <p:spPr>
          <a:xfrm>
            <a:off x="8732520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4" name="grid-10-4"/>
          <p:cNvSpPr/>
          <p:nvPr/>
        </p:nvSpPr>
        <p:spPr>
          <a:xfrm>
            <a:off x="9015984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5" name="grid-10-5"/>
          <p:cNvSpPr/>
          <p:nvPr/>
        </p:nvSpPr>
        <p:spPr>
          <a:xfrm>
            <a:off x="9299448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6" name="grid-10-6"/>
          <p:cNvSpPr/>
          <p:nvPr/>
        </p:nvSpPr>
        <p:spPr>
          <a:xfrm>
            <a:off x="9582912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7" name="grid-10-7"/>
          <p:cNvSpPr/>
          <p:nvPr/>
        </p:nvSpPr>
        <p:spPr>
          <a:xfrm>
            <a:off x="9866376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8" name="grid-10-8"/>
          <p:cNvSpPr/>
          <p:nvPr/>
        </p:nvSpPr>
        <p:spPr>
          <a:xfrm>
            <a:off x="10149840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9" name="grid-10-9"/>
          <p:cNvSpPr/>
          <p:nvPr/>
        </p:nvSpPr>
        <p:spPr>
          <a:xfrm>
            <a:off x="10433304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0" name="grid-10-10"/>
          <p:cNvSpPr/>
          <p:nvPr/>
        </p:nvSpPr>
        <p:spPr>
          <a:xfrm>
            <a:off x="10716768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1" name="grid-10-11"/>
          <p:cNvSpPr/>
          <p:nvPr/>
        </p:nvSpPr>
        <p:spPr>
          <a:xfrm>
            <a:off x="11000232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2" name="grid-10-12"/>
          <p:cNvSpPr/>
          <p:nvPr/>
        </p:nvSpPr>
        <p:spPr>
          <a:xfrm>
            <a:off x="11283696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3" name="grid-10-13"/>
          <p:cNvSpPr/>
          <p:nvPr/>
        </p:nvSpPr>
        <p:spPr>
          <a:xfrm>
            <a:off x="11567160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4" name="grid-11-0"/>
          <p:cNvSpPr/>
          <p:nvPr/>
        </p:nvSpPr>
        <p:spPr>
          <a:xfrm>
            <a:off x="7882128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5" name="grid-11-1"/>
          <p:cNvSpPr/>
          <p:nvPr/>
        </p:nvSpPr>
        <p:spPr>
          <a:xfrm>
            <a:off x="8165592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6" name="grid-11-2"/>
          <p:cNvSpPr/>
          <p:nvPr/>
        </p:nvSpPr>
        <p:spPr>
          <a:xfrm>
            <a:off x="8449056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7" name="grid-11-3"/>
          <p:cNvSpPr/>
          <p:nvPr/>
        </p:nvSpPr>
        <p:spPr>
          <a:xfrm>
            <a:off x="8732520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8" name="grid-11-4"/>
          <p:cNvSpPr/>
          <p:nvPr/>
        </p:nvSpPr>
        <p:spPr>
          <a:xfrm>
            <a:off x="9015984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9" name="grid-11-5"/>
          <p:cNvSpPr/>
          <p:nvPr/>
        </p:nvSpPr>
        <p:spPr>
          <a:xfrm>
            <a:off x="9299448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0" name="grid-11-6"/>
          <p:cNvSpPr/>
          <p:nvPr/>
        </p:nvSpPr>
        <p:spPr>
          <a:xfrm>
            <a:off x="9582912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1" name="grid-11-7"/>
          <p:cNvSpPr/>
          <p:nvPr/>
        </p:nvSpPr>
        <p:spPr>
          <a:xfrm>
            <a:off x="9866376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2" name="grid-11-8"/>
          <p:cNvSpPr/>
          <p:nvPr/>
        </p:nvSpPr>
        <p:spPr>
          <a:xfrm>
            <a:off x="10149840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3" name="grid-11-9"/>
          <p:cNvSpPr/>
          <p:nvPr/>
        </p:nvSpPr>
        <p:spPr>
          <a:xfrm>
            <a:off x="10433304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4" name="grid-11-10"/>
          <p:cNvSpPr/>
          <p:nvPr/>
        </p:nvSpPr>
        <p:spPr>
          <a:xfrm>
            <a:off x="10716768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5" name="grid-11-11"/>
          <p:cNvSpPr/>
          <p:nvPr/>
        </p:nvSpPr>
        <p:spPr>
          <a:xfrm>
            <a:off x="11000232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6" name="grid-11-12"/>
          <p:cNvSpPr/>
          <p:nvPr/>
        </p:nvSpPr>
        <p:spPr>
          <a:xfrm>
            <a:off x="11283696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7" name="grid-11-13"/>
          <p:cNvSpPr/>
          <p:nvPr/>
        </p:nvSpPr>
        <p:spPr>
          <a:xfrm>
            <a:off x="11567160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8" name="grid-12-0"/>
          <p:cNvSpPr/>
          <p:nvPr/>
        </p:nvSpPr>
        <p:spPr>
          <a:xfrm>
            <a:off x="7882128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9" name="grid-12-1"/>
          <p:cNvSpPr/>
          <p:nvPr/>
        </p:nvSpPr>
        <p:spPr>
          <a:xfrm>
            <a:off x="8165592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0" name="grid-12-2"/>
          <p:cNvSpPr/>
          <p:nvPr/>
        </p:nvSpPr>
        <p:spPr>
          <a:xfrm>
            <a:off x="8449056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1" name="grid-12-3"/>
          <p:cNvSpPr/>
          <p:nvPr/>
        </p:nvSpPr>
        <p:spPr>
          <a:xfrm>
            <a:off x="8732520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2" name="grid-12-4"/>
          <p:cNvSpPr/>
          <p:nvPr/>
        </p:nvSpPr>
        <p:spPr>
          <a:xfrm>
            <a:off x="9015984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3" name="grid-12-5"/>
          <p:cNvSpPr/>
          <p:nvPr/>
        </p:nvSpPr>
        <p:spPr>
          <a:xfrm>
            <a:off x="9299448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4" name="grid-12-6"/>
          <p:cNvSpPr/>
          <p:nvPr/>
        </p:nvSpPr>
        <p:spPr>
          <a:xfrm>
            <a:off x="9582912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5" name="grid-12-7"/>
          <p:cNvSpPr/>
          <p:nvPr/>
        </p:nvSpPr>
        <p:spPr>
          <a:xfrm>
            <a:off x="9866376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6" name="grid-12-8"/>
          <p:cNvSpPr/>
          <p:nvPr/>
        </p:nvSpPr>
        <p:spPr>
          <a:xfrm>
            <a:off x="10149840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7" name="grid-12-9"/>
          <p:cNvSpPr/>
          <p:nvPr/>
        </p:nvSpPr>
        <p:spPr>
          <a:xfrm>
            <a:off x="10433304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8" name="grid-12-10"/>
          <p:cNvSpPr/>
          <p:nvPr/>
        </p:nvSpPr>
        <p:spPr>
          <a:xfrm>
            <a:off x="10716768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9" name="grid-12-11"/>
          <p:cNvSpPr/>
          <p:nvPr/>
        </p:nvSpPr>
        <p:spPr>
          <a:xfrm>
            <a:off x="11000232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0" name="grid-12-12"/>
          <p:cNvSpPr/>
          <p:nvPr/>
        </p:nvSpPr>
        <p:spPr>
          <a:xfrm>
            <a:off x="11283696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1" name="grid-12-13"/>
          <p:cNvSpPr/>
          <p:nvPr/>
        </p:nvSpPr>
        <p:spPr>
          <a:xfrm>
            <a:off x="11567160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2" name="grid-13-0"/>
          <p:cNvSpPr/>
          <p:nvPr/>
        </p:nvSpPr>
        <p:spPr>
          <a:xfrm>
            <a:off x="7882128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3" name="grid-13-1"/>
          <p:cNvSpPr/>
          <p:nvPr/>
        </p:nvSpPr>
        <p:spPr>
          <a:xfrm>
            <a:off x="8165592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4" name="grid-13-2"/>
          <p:cNvSpPr/>
          <p:nvPr/>
        </p:nvSpPr>
        <p:spPr>
          <a:xfrm>
            <a:off x="8449056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5" name="grid-13-3"/>
          <p:cNvSpPr/>
          <p:nvPr/>
        </p:nvSpPr>
        <p:spPr>
          <a:xfrm>
            <a:off x="8732520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6" name="grid-13-4"/>
          <p:cNvSpPr/>
          <p:nvPr/>
        </p:nvSpPr>
        <p:spPr>
          <a:xfrm>
            <a:off x="9015984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7" name="grid-13-5"/>
          <p:cNvSpPr/>
          <p:nvPr/>
        </p:nvSpPr>
        <p:spPr>
          <a:xfrm>
            <a:off x="9299448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8" name="grid-13-6"/>
          <p:cNvSpPr/>
          <p:nvPr/>
        </p:nvSpPr>
        <p:spPr>
          <a:xfrm>
            <a:off x="9582912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9" name="grid-13-7"/>
          <p:cNvSpPr/>
          <p:nvPr/>
        </p:nvSpPr>
        <p:spPr>
          <a:xfrm>
            <a:off x="9866376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00" name="grid-13-8"/>
          <p:cNvSpPr/>
          <p:nvPr/>
        </p:nvSpPr>
        <p:spPr>
          <a:xfrm>
            <a:off x="10149840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01" name="grid-13-9"/>
          <p:cNvSpPr/>
          <p:nvPr/>
        </p:nvSpPr>
        <p:spPr>
          <a:xfrm>
            <a:off x="10433304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02" name="grid-13-10"/>
          <p:cNvSpPr/>
          <p:nvPr/>
        </p:nvSpPr>
        <p:spPr>
          <a:xfrm>
            <a:off x="10716768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03" name="grid-13-11"/>
          <p:cNvSpPr/>
          <p:nvPr/>
        </p:nvSpPr>
        <p:spPr>
          <a:xfrm>
            <a:off x="11000232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04" name="grid-13-12"/>
          <p:cNvSpPr/>
          <p:nvPr/>
        </p:nvSpPr>
        <p:spPr>
          <a:xfrm>
            <a:off x="11283696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05" name="grid-13-13"/>
          <p:cNvSpPr/>
          <p:nvPr/>
        </p:nvSpPr>
        <p:spPr>
          <a:xfrm>
            <a:off x="11567160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06" name="Text 202"/>
          <p:cNvSpPr txBox="1"/>
          <p:nvPr/>
        </p:nvSpPr>
        <p:spPr>
          <a:xfrm>
            <a:off x="7882128" y="5074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PE[3,7]  ·  C ← C + A · 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THE FORMAT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bg1"/>
                </a:solidFill>
              </a:rPr>
              <a:t>Superfloat spends every bit on value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BF16 · 1/8/7</a:t>
            </a:r>
            <a:endParaRPr lang="en-US" sz="1300" dirty="0"/>
          </a:p>
        </p:txBody>
      </p:sp>
      <p:sp>
        <p:nvSpPr>
          <p:cNvPr id="6" name="bit-BF16 · 1/8/7-0"/>
          <p:cNvSpPr/>
          <p:nvPr/>
        </p:nvSpPr>
        <p:spPr>
          <a:xfrm>
            <a:off x="2331720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E9EDF6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31720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8" name="bit-BF16 · 1/8/7-1"/>
          <p:cNvSpPr/>
          <p:nvPr/>
        </p:nvSpPr>
        <p:spPr>
          <a:xfrm>
            <a:off x="2907792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1A2131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07792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bit-BF16 · 1/8/7-2"/>
          <p:cNvSpPr/>
          <p:nvPr/>
        </p:nvSpPr>
        <p:spPr>
          <a:xfrm>
            <a:off x="3483864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1A2131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83864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12" name="bit-BF16 · 1/8/7-3"/>
          <p:cNvSpPr/>
          <p:nvPr/>
        </p:nvSpPr>
        <p:spPr>
          <a:xfrm>
            <a:off x="4059936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1A2131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59936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14" name="bit-BF16 · 1/8/7-4"/>
          <p:cNvSpPr/>
          <p:nvPr/>
        </p:nvSpPr>
        <p:spPr>
          <a:xfrm>
            <a:off x="4636008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1A2131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36008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16" name="bit-BF16 · 1/8/7-5"/>
          <p:cNvSpPr/>
          <p:nvPr/>
        </p:nvSpPr>
        <p:spPr>
          <a:xfrm>
            <a:off x="5212080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1A2131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18" name="bit-BF16 · 1/8/7-6"/>
          <p:cNvSpPr/>
          <p:nvPr/>
        </p:nvSpPr>
        <p:spPr>
          <a:xfrm>
            <a:off x="5788152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1A2131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88152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20" name="bit-BF16 · 1/8/7-7"/>
          <p:cNvSpPr/>
          <p:nvPr/>
        </p:nvSpPr>
        <p:spPr>
          <a:xfrm>
            <a:off x="6364224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1A2131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64224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22" name="bit-BF16 · 1/8/7-8"/>
          <p:cNvSpPr/>
          <p:nvPr/>
        </p:nvSpPr>
        <p:spPr>
          <a:xfrm>
            <a:off x="6940296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1A2131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0296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600" dirty="0"/>
          </a:p>
        </p:txBody>
      </p:sp>
      <p:sp>
        <p:nvSpPr>
          <p:cNvPr id="24" name="bit-BF16 · 1/8/7-9"/>
          <p:cNvSpPr/>
          <p:nvPr/>
        </p:nvSpPr>
        <p:spPr>
          <a:xfrm>
            <a:off x="7516368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24407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16368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26" name="bit-BF16 · 1/8/7-10"/>
          <p:cNvSpPr/>
          <p:nvPr/>
        </p:nvSpPr>
        <p:spPr>
          <a:xfrm>
            <a:off x="8092440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24407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92440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28" name="bit-BF16 · 1/8/7-11"/>
          <p:cNvSpPr/>
          <p:nvPr/>
        </p:nvSpPr>
        <p:spPr>
          <a:xfrm>
            <a:off x="8668512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24407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68512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30" name="bit-BF16 · 1/8/7-12"/>
          <p:cNvSpPr/>
          <p:nvPr/>
        </p:nvSpPr>
        <p:spPr>
          <a:xfrm>
            <a:off x="9244584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24407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44584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32" name="bit-BF16 · 1/8/7-13"/>
          <p:cNvSpPr/>
          <p:nvPr/>
        </p:nvSpPr>
        <p:spPr>
          <a:xfrm>
            <a:off x="9820656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24407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20656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34" name="bit-BF16 · 1/8/7-14"/>
          <p:cNvSpPr/>
          <p:nvPr/>
        </p:nvSpPr>
        <p:spPr>
          <a:xfrm>
            <a:off x="10396728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24407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396728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36" name="bit-BF16 · 1/8/7-15"/>
          <p:cNvSpPr/>
          <p:nvPr/>
        </p:nvSpPr>
        <p:spPr>
          <a:xfrm>
            <a:off x="10972800" y="19202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24407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972800" y="19202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SF16 · 1 + 15</a:t>
            </a:r>
            <a:endParaRPr lang="en-US" sz="1300" dirty="0"/>
          </a:p>
        </p:txBody>
      </p:sp>
      <p:sp>
        <p:nvSpPr>
          <p:cNvPr id="39" name="bit-SF16 · 1 + 15-0"/>
          <p:cNvSpPr/>
          <p:nvPr/>
        </p:nvSpPr>
        <p:spPr>
          <a:xfrm>
            <a:off x="2331720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E9EDF6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331720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41" name="bit-SF16 · 1 + 15-1"/>
          <p:cNvSpPr/>
          <p:nvPr/>
        </p:nvSpPr>
        <p:spPr>
          <a:xfrm>
            <a:off x="2907792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7AA7F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907792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43" name="bit-SF16 · 1 + 15-2"/>
          <p:cNvSpPr/>
          <p:nvPr/>
        </p:nvSpPr>
        <p:spPr>
          <a:xfrm>
            <a:off x="3483864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7AA7F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483864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45" name="bit-SF16 · 1 + 15-3"/>
          <p:cNvSpPr/>
          <p:nvPr/>
        </p:nvSpPr>
        <p:spPr>
          <a:xfrm>
            <a:off x="4059936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7AA7F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059936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47" name="bit-SF16 · 1 + 15-4"/>
          <p:cNvSpPr/>
          <p:nvPr/>
        </p:nvSpPr>
        <p:spPr>
          <a:xfrm>
            <a:off x="4636008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7AA7F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636008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49" name="bit-SF16 · 1 + 15-5"/>
          <p:cNvSpPr/>
          <p:nvPr/>
        </p:nvSpPr>
        <p:spPr>
          <a:xfrm>
            <a:off x="5212080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7AA7F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212080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51" name="bit-SF16 · 1 + 15-6"/>
          <p:cNvSpPr/>
          <p:nvPr/>
        </p:nvSpPr>
        <p:spPr>
          <a:xfrm>
            <a:off x="5788152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7AA7F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788152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53" name="bit-SF16 · 1 + 15-7"/>
          <p:cNvSpPr/>
          <p:nvPr/>
        </p:nvSpPr>
        <p:spPr>
          <a:xfrm>
            <a:off x="6364224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7AA7F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364224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55" name="bit-SF16 · 1 + 15-8"/>
          <p:cNvSpPr/>
          <p:nvPr/>
        </p:nvSpPr>
        <p:spPr>
          <a:xfrm>
            <a:off x="6940296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7AA7F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940296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57" name="bit-SF16 · 1 + 15-9"/>
          <p:cNvSpPr/>
          <p:nvPr/>
        </p:nvSpPr>
        <p:spPr>
          <a:xfrm>
            <a:off x="7516368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7AA7F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516368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59" name="bit-SF16 · 1 + 15-10"/>
          <p:cNvSpPr/>
          <p:nvPr/>
        </p:nvSpPr>
        <p:spPr>
          <a:xfrm>
            <a:off x="8092440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7AA7F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092440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61" name="bit-SF16 · 1 + 15-11"/>
          <p:cNvSpPr/>
          <p:nvPr/>
        </p:nvSpPr>
        <p:spPr>
          <a:xfrm>
            <a:off x="8668512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7AA7F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668512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63" name="bit-SF16 · 1 + 15-12"/>
          <p:cNvSpPr/>
          <p:nvPr/>
        </p:nvSpPr>
        <p:spPr>
          <a:xfrm>
            <a:off x="9244584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7AA7F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244584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65" name="bit-SF16 · 1 + 15-13"/>
          <p:cNvSpPr/>
          <p:nvPr/>
        </p:nvSpPr>
        <p:spPr>
          <a:xfrm>
            <a:off x="9820656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7AA7F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820656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67" name="bit-SF16 · 1 + 15-14"/>
          <p:cNvSpPr/>
          <p:nvPr/>
        </p:nvSpPr>
        <p:spPr>
          <a:xfrm>
            <a:off x="10396728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7AA7F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396728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69" name="bit-SF16 · 1 + 15-15"/>
          <p:cNvSpPr/>
          <p:nvPr/>
        </p:nvSpPr>
        <p:spPr>
          <a:xfrm>
            <a:off x="10972800" y="2606040"/>
            <a:ext cx="512064" cy="548640"/>
          </a:xfrm>
          <a:prstGeom prst="roundRect">
            <a:avLst>
              <a:gd name="adj" fmla="val 10714"/>
            </a:avLst>
          </a:prstGeom>
          <a:solidFill>
            <a:srgbClr val="7AA7FF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0972800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2331720" y="3291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sign · E exponent · M mantissa · V value, signed fixed point Q1.15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548640" y="3977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99.999%</a:t>
            </a:r>
            <a:endParaRPr lang="en-US" sz="3400" dirty="0"/>
          </a:p>
        </p:txBody>
      </p:sp>
      <p:sp>
        <p:nvSpPr>
          <p:cNvPr id="73" name="Text 71"/>
          <p:cNvSpPr txBox="1"/>
          <p:nvPr/>
        </p:nvSpPr>
        <p:spPr>
          <a:xfrm>
            <a:off x="548640" y="47091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parameters in trained networks already sit inside [−1, 1]. The exponent pays for range they never use.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4297680" y="3977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exponent</a:t>
            </a:r>
            <a:endParaRPr lang="en-US" sz="3400" dirty="0"/>
          </a:p>
        </p:txBody>
      </p:sp>
      <p:sp>
        <p:nvSpPr>
          <p:cNvPr id="75" name="Text 73"/>
          <p:cNvSpPr txBox="1"/>
          <p:nvPr/>
        </p:nvSpPr>
        <p:spPr>
          <a:xfrm>
            <a:off x="4297680" y="47091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 the multiply-add: no align, no normalise, one pipeline stage on the partial-sum path.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8046720" y="3977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SF4 to SF16</a:t>
            </a:r>
            <a:endParaRPr lang="en-US" sz="3400" dirty="0"/>
          </a:p>
        </p:txBody>
      </p:sp>
      <p:sp>
        <p:nvSpPr>
          <p:cNvPr id="77" name="Text 75"/>
          <p:cNvSpPr txBox="1"/>
          <p:nvPr/>
        </p:nvSpPr>
        <p:spPr>
          <a:xfrm>
            <a:off x="8046720" y="47091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format family at any width, converted exactly from standard floats. SF8 lands within 1% of SF16.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PROVEN AT 130 NM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bg1"/>
                </a:solidFill>
              </a:rPr>
              <a:t>Three chips signed off on SkyWater 130 nm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7665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188720"/>
                <a:gridCol w="1188720"/>
                <a:gridCol w="1188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GPT-2 small, same RTL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SF16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FP16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BF16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Tile area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 mm²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 mm²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 mm²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Chip power, decode, 50 MHz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 mW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 mW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 mW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per output token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5.55 J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10.17 J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 J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per YOLOv8n image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 J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 J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 J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7726680" y="187452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10141E"/>
          </a:solidFill>
          <a:ln w="9525">
            <a:solidFill>
              <a:srgbClr val="262D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CYCLES, LESS ENERGY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4231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-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−45%</a:t>
            </a:r>
            <a:endParaRPr lang="en-US" sz="66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5204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per token against FP16, and 43% against BF16, in prefill, decode and YOLOv8n alike.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983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chip: 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tiles of 8×8 systolic arrays (256 MACs), a custom 16-bit ISA, SIMT threads. Zero violations in every sign-off check, timing met across nine corners.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SF16 chip on ChipFoundry shuttle CI2612, tape-out 7 December 2026.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ChipFoundry OpenFrame v1, signed off 1 Oct 2026. Post-layout power and energy; only the PE, FMA and activation units differ.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MEASURED AT 2 NM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tx2"/>
                </a:solidFill>
              </a:rPr>
              <a:t>2.5× the compute per watt of FP16</a:t>
            </a:r>
            <a:endParaRPr lang="en-US" sz="3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37490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343400" y="1783080"/>
          <a:ext cx="37490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lock-card"/>
          <p:cNvSpPr/>
          <p:nvPr/>
        </p:nvSpPr>
        <p:spPr>
          <a:xfrm>
            <a:off x="8458200" y="187452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AFBFE"/>
          </a:solidFill>
          <a:ln w="9525">
            <a:solidFill>
              <a:srgbClr val="D3DA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73252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CLOCK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732520" y="2423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3.39 GHz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8732520" y="320040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multiplier over two stages, against 3.01 GHz for FP16 and 3.03 GHz for BF16. SF16 has no float align or add stage to hold it back.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73252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 fJ per MAC against 589 (FP16)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 processing elements on the GT2N 2 nm predictive PDK (not a TSMC PDK): OpenROAD to global route, 0.7 V, typical corner, real GPT-2 operands at 2 GHz. Bit-exact at gate level.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EVERY NODE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bg1"/>
                </a:solidFill>
              </a:rPr>
              <a:t>The lead holds at 45, 3 and 2 nm</a:t>
            </a:r>
            <a:endParaRPr lang="en-US" sz="3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hb-card"/>
          <p:cNvSpPr/>
          <p:nvPr/>
        </p:nvSpPr>
        <p:spPr>
          <a:xfrm>
            <a:off x="7589520" y="1874520"/>
            <a:ext cx="4069080" cy="1783080"/>
          </a:xfrm>
          <a:prstGeom prst="roundRect">
            <a:avLst>
              <a:gd name="adj" fmla="val 4103"/>
            </a:avLst>
          </a:prstGeom>
          <a:solidFill>
            <a:srgbClr val="10141E"/>
          </a:solidFill>
          <a:ln w="9525">
            <a:solidFill>
              <a:srgbClr val="262D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HAMMERBLADE MANYCORE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423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180 GPT-2 prefill matrix multiplies bit-exact on a RISC-V manycore, 11% sooner to the first token.</a:t>
            </a:r>
            <a:endParaRPr lang="en-US" sz="1500" dirty="0"/>
          </a:p>
        </p:txBody>
      </p:sp>
      <p:sp>
        <p:nvSpPr>
          <p:cNvPr id="9" name="accuracy-card"/>
          <p:cNvSpPr/>
          <p:nvPr/>
        </p:nvSpPr>
        <p:spPr>
          <a:xfrm>
            <a:off x="7589520" y="3886200"/>
            <a:ext cx="4069080" cy="1783080"/>
          </a:xfrm>
          <a:prstGeom prst="roundRect">
            <a:avLst>
              <a:gd name="adj" fmla="val 4103"/>
            </a:avLst>
          </a:prstGeom>
          <a:solidFill>
            <a:srgbClr val="10141E"/>
          </a:solidFill>
          <a:ln w="9525">
            <a:solidFill>
              <a:srgbClr val="262D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0" y="4087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4348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 perplexity within 0.55% of FP32. Detection within about 4% of FP32; classification and video level or better.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flow and GPT-2 stimulus at every node. NanGate45 and GT3 are research PDKs, one corner each, global-route parasitics.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THE TEST CHIP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tx2"/>
                </a:solidFill>
              </a:rPr>
              <a:t>A 10 mm² N2 shuttle chip comes first</a:t>
            </a:r>
            <a:endParaRPr lang="en-US" sz="3600" dirty="0"/>
          </a:p>
        </p:txBody>
      </p:sp>
      <p:sp>
        <p:nvSpPr>
          <p:cNvPr id="5" name="die"/>
          <p:cNvSpPr/>
          <p:nvPr/>
        </p:nvSpPr>
        <p:spPr>
          <a:xfrm>
            <a:off x="548640" y="1828800"/>
            <a:ext cx="4023360" cy="3749040"/>
          </a:xfrm>
          <a:prstGeom prst="rect">
            <a:avLst/>
          </a:prstGeom>
          <a:solidFill>
            <a:srgbClr val="141A27"/>
          </a:solidFill>
          <a:ln w="12700">
            <a:solidFill>
              <a:srgbClr val="141A27"/>
            </a:solidFill>
            <a:prstDash val="solid"/>
          </a:ln>
        </p:spPr>
      </p:sp>
      <p:sp>
        <p:nvSpPr>
          <p:cNvPr id="6" name="blk-SF16"/>
          <p:cNvSpPr/>
          <p:nvPr/>
        </p:nvSpPr>
        <p:spPr>
          <a:xfrm>
            <a:off x="548640" y="1828800"/>
            <a:ext cx="963838" cy="1697327"/>
          </a:xfrm>
          <a:prstGeom prst="rect">
            <a:avLst/>
          </a:prstGeom>
          <a:solidFill>
            <a:srgbClr val="7AA7FF"/>
          </a:solidFill>
          <a:ln w="19050">
            <a:solidFill>
              <a:srgbClr val="141A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01952"/>
            <a:ext cx="780958" cy="155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SF16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1.09 mm²</a:t>
            </a:r>
            <a:endParaRPr lang="en-US" sz="1300" dirty="0"/>
          </a:p>
        </p:txBody>
      </p:sp>
      <p:sp>
        <p:nvSpPr>
          <p:cNvPr id="8" name="blk-FP16"/>
          <p:cNvSpPr/>
          <p:nvPr/>
        </p:nvSpPr>
        <p:spPr>
          <a:xfrm>
            <a:off x="1512478" y="1828800"/>
            <a:ext cx="1635872" cy="1697327"/>
          </a:xfrm>
          <a:prstGeom prst="rect">
            <a:avLst/>
          </a:prstGeom>
          <a:solidFill>
            <a:srgbClr val="9AA4B8"/>
          </a:solidFill>
          <a:ln w="19050">
            <a:solidFill>
              <a:srgbClr val="141A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03918" y="1901952"/>
            <a:ext cx="1452992" cy="155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1.85 mm²</a:t>
            </a:r>
            <a:endParaRPr lang="en-US" sz="1300" dirty="0"/>
          </a:p>
        </p:txBody>
      </p:sp>
      <p:sp>
        <p:nvSpPr>
          <p:cNvPr id="10" name="blk-BF16"/>
          <p:cNvSpPr/>
          <p:nvPr/>
        </p:nvSpPr>
        <p:spPr>
          <a:xfrm>
            <a:off x="3148350" y="1828800"/>
            <a:ext cx="1423650" cy="1697327"/>
          </a:xfrm>
          <a:prstGeom prst="rect">
            <a:avLst/>
          </a:prstGeom>
          <a:solidFill>
            <a:srgbClr val="C5CCDA"/>
          </a:solidFill>
          <a:ln w="19050">
            <a:solidFill>
              <a:srgbClr val="141A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39790" y="1901952"/>
            <a:ext cx="1240770" cy="155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BF16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1.61 mm²</a:t>
            </a:r>
            <a:endParaRPr lang="en-US" sz="1300" dirty="0"/>
          </a:p>
        </p:txBody>
      </p:sp>
      <p:sp>
        <p:nvSpPr>
          <p:cNvPr id="12" name="blk-SRAM, 12 MB"/>
          <p:cNvSpPr/>
          <p:nvPr/>
        </p:nvSpPr>
        <p:spPr>
          <a:xfrm>
            <a:off x="548640" y="3526127"/>
            <a:ext cx="4023360" cy="932597"/>
          </a:xfrm>
          <a:prstGeom prst="rect">
            <a:avLst/>
          </a:prstGeom>
          <a:solidFill>
            <a:srgbClr val="566075"/>
          </a:solidFill>
          <a:ln w="19050">
            <a:solidFill>
              <a:srgbClr val="141A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99279"/>
            <a:ext cx="3840480" cy="786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SRAM, 12 MB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mm²</a:t>
            </a:r>
            <a:endParaRPr lang="en-US" sz="1300" dirty="0"/>
          </a:p>
        </p:txBody>
      </p:sp>
      <p:sp>
        <p:nvSpPr>
          <p:cNvPr id="14" name="blk-Control core, clocking, test I/O"/>
          <p:cNvSpPr/>
          <p:nvPr/>
        </p:nvSpPr>
        <p:spPr>
          <a:xfrm>
            <a:off x="548640" y="4458724"/>
            <a:ext cx="4023360" cy="1119116"/>
          </a:xfrm>
          <a:prstGeom prst="rect">
            <a:avLst/>
          </a:prstGeom>
          <a:solidFill>
            <a:srgbClr val="141A27"/>
          </a:solidFill>
          <a:ln w="19050">
            <a:solidFill>
              <a:srgbClr val="141A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31876"/>
            <a:ext cx="3840480" cy="972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core, clocking, test I/O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3 mm² (estimate)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82880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SF16 matrix unit, SRAM and clock in TSMC silicon before the production mask set.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2587752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formats on one die, one wafer: one 128×128 matrix unit each.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346704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Yields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dozens of dies from one shuttle; we plan around 40 for bring-up and validation.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4105656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Tapes out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first 2027 N2 shuttle (March, if TSMC keeps its March and September runs).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4864608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$800K to $1.6M in silicon (estimate), about $21K to $40K a die.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Matrix-unit areas from the measured 2 nm blocks; SRAM at TSMC N2's published 38.1 Mb/mm². Floorplan drawn to scale.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THE PRODUCTION DIE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bg1"/>
                </a:solidFill>
              </a:rPr>
              <a:t>800 mm², 1.73× the matrix compute of FP16</a:t>
            </a:r>
            <a:endParaRPr lang="en-US" sz="3600" dirty="0"/>
          </a:p>
        </p:txBody>
      </p:sp>
      <p:sp>
        <p:nvSpPr>
          <p:cNvPr id="5" name="area-676"/>
          <p:cNvSpPr/>
          <p:nvPr/>
        </p:nvSpPr>
        <p:spPr>
          <a:xfrm>
            <a:off x="548640" y="1874520"/>
            <a:ext cx="9349283" cy="868680"/>
          </a:xfrm>
          <a:prstGeom prst="rect">
            <a:avLst/>
          </a:prstGeom>
          <a:solidFill>
            <a:srgbClr val="262D3D"/>
          </a:solidFill>
          <a:ln w="19050">
            <a:solidFill>
              <a:srgbClr val="0A0D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38528"/>
            <a:ext cx="92121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On-die SRAM, 3.22 GB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676 mm²</a:t>
            </a:r>
            <a:endParaRPr lang="en-US" sz="1400" dirty="0"/>
          </a:p>
        </p:txBody>
      </p:sp>
      <p:sp>
        <p:nvSpPr>
          <p:cNvPr id="7" name="area-70"/>
          <p:cNvSpPr/>
          <p:nvPr/>
        </p:nvSpPr>
        <p:spPr>
          <a:xfrm>
            <a:off x="9897923" y="1874520"/>
            <a:ext cx="968121" cy="868680"/>
          </a:xfrm>
          <a:prstGeom prst="rect">
            <a:avLst/>
          </a:prstGeom>
          <a:solidFill>
            <a:srgbClr val="7AA7FF"/>
          </a:solidFill>
          <a:ln w="19050">
            <a:solidFill>
              <a:srgbClr val="0A0D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89363" y="1938528"/>
            <a:ext cx="8309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units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mm²</a:t>
            </a:r>
            <a:endParaRPr lang="en-US" sz="1100" dirty="0"/>
          </a:p>
        </p:txBody>
      </p:sp>
      <p:sp>
        <p:nvSpPr>
          <p:cNvPr id="9" name="area-40"/>
          <p:cNvSpPr/>
          <p:nvPr/>
        </p:nvSpPr>
        <p:spPr>
          <a:xfrm>
            <a:off x="10866044" y="1874520"/>
            <a:ext cx="553212" cy="868680"/>
          </a:xfrm>
          <a:prstGeom prst="rect">
            <a:avLst/>
          </a:prstGeom>
          <a:solidFill>
            <a:srgbClr val="4D72C9"/>
          </a:solidFill>
          <a:ln w="19050">
            <a:solidFill>
              <a:srgbClr val="0A0D14"/>
            </a:solidFill>
            <a:prstDash val="solid"/>
          </a:ln>
        </p:spPr>
      </p:sp>
      <p:sp>
        <p:nvSpPr>
          <p:cNvPr id="10" name="area-14"/>
          <p:cNvSpPr/>
          <p:nvPr/>
        </p:nvSpPr>
        <p:spPr>
          <a:xfrm>
            <a:off x="11419256" y="1874520"/>
            <a:ext cx="193624" cy="868680"/>
          </a:xfrm>
          <a:prstGeom prst="rect">
            <a:avLst/>
          </a:prstGeom>
          <a:solidFill>
            <a:srgbClr val="9AA4B8"/>
          </a:solidFill>
          <a:ln w="19050">
            <a:solidFill>
              <a:srgbClr val="0A0D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28163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and HBM PHYs 40 mm²  ·  vector units, control, DMA, network 14 mm²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4,194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69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16-bit TFLOPS from 64 matrix units, against 2,425 (FP16) and 2,818 (BF16) in the same 70 mm²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 TB/s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069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four HBM3E stacks, 144 GB, for what the 3.22 GB of SRAM cannot hold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1.66×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069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 small decode at batch 1: 44,403 tokens/s against 26,743 for FP16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production tape-out: 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 wider vector units, faster weight loading for decode, and more capacity for long-context batches. Each applies to all three formats.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Modeled: 2 GHz, 700 W cap, roofline over matrix, vector, memory and power. Only the matrix units come from measured 2 nm blocks.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THE PLAN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tx2"/>
                </a:solidFill>
              </a:rPr>
              <a:t>Test chip in 2027, production from 2028</a:t>
            </a:r>
            <a:endParaRPr lang="en-US" sz="3600" dirty="0"/>
          </a:p>
        </p:txBody>
      </p:sp>
      <p:sp>
        <p:nvSpPr>
          <p:cNvPr id="5" name="timeline"/>
          <p:cNvSpPr/>
          <p:nvPr/>
        </p:nvSpPr>
        <p:spPr>
          <a:xfrm>
            <a:off x="548640" y="2212848"/>
            <a:ext cx="11064240" cy="0"/>
          </a:xfrm>
          <a:prstGeom prst="line">
            <a:avLst/>
          </a:prstGeom>
          <a:noFill/>
          <a:ln w="19050">
            <a:solidFill>
              <a:srgbClr val="C3C7D1"/>
            </a:solidFill>
            <a:prstDash val="solid"/>
          </a:ln>
        </p:spPr>
      </p:sp>
      <p:sp>
        <p:nvSpPr>
          <p:cNvPr id="6" name="dot-0"/>
          <p:cNvSpPr/>
          <p:nvPr/>
        </p:nvSpPr>
        <p:spPr>
          <a:xfrm>
            <a:off x="548640" y="2121408"/>
            <a:ext cx="182880" cy="182880"/>
          </a:xfrm>
          <a:prstGeom prst="ellipse">
            <a:avLst/>
          </a:prstGeom>
          <a:solidFill>
            <a:srgbClr val="2557D6"/>
          </a:solidFill>
          <a:ln w="19050">
            <a:solidFill>
              <a:srgbClr val="2557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 TO DEC 2026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14600"/>
            <a:ext cx="166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0400"/>
            <a:ext cx="161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Design-service partner, TSMC NDA, N2 PDK; reserve the shuttle slot; send the 2028 wafer forecast.</a:t>
            </a:r>
            <a:endParaRPr lang="en-US" sz="1300" dirty="0"/>
          </a:p>
        </p:txBody>
      </p:sp>
      <p:sp>
        <p:nvSpPr>
          <p:cNvPr id="10" name="dot-1"/>
          <p:cNvSpPr/>
          <p:nvPr/>
        </p:nvSpPr>
        <p:spPr>
          <a:xfrm>
            <a:off x="2392680" y="2121408"/>
            <a:ext cx="182880" cy="182880"/>
          </a:xfrm>
          <a:prstGeom prst="ellipse">
            <a:avLst/>
          </a:prstGeom>
          <a:solidFill>
            <a:srgbClr val="2557D6"/>
          </a:solidFill>
          <a:ln w="19050">
            <a:solidFill>
              <a:srgbClr val="255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92680" y="178308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DEC 2026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392680" y="2514600"/>
            <a:ext cx="166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 nm tape-out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392680" y="3200400"/>
            <a:ext cx="161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SF16 chip on ChipFoundry CI2612; parts back May 2027.</a:t>
            </a:r>
            <a:endParaRPr lang="en-US" sz="1300" dirty="0"/>
          </a:p>
        </p:txBody>
      </p:sp>
      <p:sp>
        <p:nvSpPr>
          <p:cNvPr id="14" name="dot-2"/>
          <p:cNvSpPr/>
          <p:nvPr/>
        </p:nvSpPr>
        <p:spPr>
          <a:xfrm>
            <a:off x="4236720" y="2121408"/>
            <a:ext cx="182880" cy="182880"/>
          </a:xfrm>
          <a:prstGeom prst="ellipse">
            <a:avLst/>
          </a:prstGeom>
          <a:solidFill>
            <a:srgbClr val="FAFBFE"/>
          </a:solidFill>
          <a:ln w="19050">
            <a:solidFill>
              <a:srgbClr val="2557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36720" y="178308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MARCH 2027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236720" y="2514600"/>
            <a:ext cx="166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test chip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236720" y="3200400"/>
            <a:ext cx="161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Tape-out on the first 2027 N2 shuttle.</a:t>
            </a:r>
            <a:endParaRPr lang="en-US" sz="1300" dirty="0"/>
          </a:p>
        </p:txBody>
      </p:sp>
      <p:sp>
        <p:nvSpPr>
          <p:cNvPr id="18" name="dot-3"/>
          <p:cNvSpPr/>
          <p:nvPr/>
        </p:nvSpPr>
        <p:spPr>
          <a:xfrm>
            <a:off x="6080760" y="2121408"/>
            <a:ext cx="182880" cy="182880"/>
          </a:xfrm>
          <a:prstGeom prst="ellipse">
            <a:avLst/>
          </a:prstGeom>
          <a:solidFill>
            <a:srgbClr val="FAFBFE"/>
          </a:solidFill>
          <a:ln w="19050">
            <a:solidFill>
              <a:srgbClr val="2557D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80760" y="178308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MID-2027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2514600"/>
            <a:ext cx="166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Bring-up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3200400"/>
            <a:ext cx="161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 back, measured against the 2 nm models. Second shuttle in September if a respin is needed.</a:t>
            </a:r>
            <a:endParaRPr lang="en-US" sz="1300" dirty="0"/>
          </a:p>
        </p:txBody>
      </p:sp>
      <p:sp>
        <p:nvSpPr>
          <p:cNvPr id="22" name="dot-4"/>
          <p:cNvSpPr/>
          <p:nvPr/>
        </p:nvSpPr>
        <p:spPr>
          <a:xfrm>
            <a:off x="7924800" y="2121408"/>
            <a:ext cx="182880" cy="182880"/>
          </a:xfrm>
          <a:prstGeom prst="ellipse">
            <a:avLst/>
          </a:prstGeom>
          <a:solidFill>
            <a:srgbClr val="FAFBFE"/>
          </a:solidFill>
          <a:ln w="19050">
            <a:solidFill>
              <a:srgbClr val="2557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24800" y="178308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2027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924800" y="2514600"/>
            <a:ext cx="166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tape-out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924800" y="3200400"/>
            <a:ext cx="161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800 mm² die on its own mask set.</a:t>
            </a:r>
            <a:endParaRPr lang="en-US" sz="1300" dirty="0"/>
          </a:p>
        </p:txBody>
      </p:sp>
      <p:sp>
        <p:nvSpPr>
          <p:cNvPr id="26" name="dot-5"/>
          <p:cNvSpPr/>
          <p:nvPr/>
        </p:nvSpPr>
        <p:spPr>
          <a:xfrm>
            <a:off x="9768840" y="2121408"/>
            <a:ext cx="182880" cy="182880"/>
          </a:xfrm>
          <a:prstGeom prst="ellipse">
            <a:avLst/>
          </a:prstGeom>
          <a:solidFill>
            <a:srgbClr val="FAFBFE"/>
          </a:solidFill>
          <a:ln w="19050">
            <a:solidFill>
              <a:srgbClr val="2557D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68840" y="1783080"/>
            <a:ext cx="170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2028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768840" y="2514600"/>
            <a:ext cx="166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768840" y="3200400"/>
            <a:ext cx="1615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N2 wafers, about 40,000 chips, first parts mid-year.</a:t>
            </a:r>
            <a:endParaRPr lang="en-US" sz="1300" dirty="0"/>
          </a:p>
        </p:txBody>
      </p:sp>
      <p:sp>
        <p:nvSpPr>
          <p:cNvPr id="30" name="why-now"/>
          <p:cNvSpPr/>
          <p:nvPr/>
        </p:nvSpPr>
        <p:spPr>
          <a:xfrm>
            <a:off x="548640" y="50749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AFBFE"/>
          </a:solidFill>
          <a:ln w="9525">
            <a:solidFill>
              <a:srgbClr val="D3DA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0749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start now: 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capacity is booked into 2028 and reserved about a year ahead with prepayment, so 2028's wafers must be requested before the test chip is back.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THE BUDGET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bg1"/>
                </a:solidFill>
              </a:rPr>
              <a:t>$29M to $70M to production tape-out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589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1920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covers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 nm shuttle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SF16 chip on ChipFoundry ($14,950), boards and bring-up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 test chip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mm² shuttle silicon, packaging and boards, design-service allowance, respin reserve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$1.2M to $4.4M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tape-out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 mask set, IP licences, design-service, test program and probe cards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$23M to $59M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EDA tools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About 10 seats at $80K to $150K an engineer-year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$800K to $1.5M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Six hires: three in VLSI, three in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$3.8M to $4.6M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$29M to $70M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</a:tbl>
          </a:graphicData>
        </a:graphic>
      </p:graphicFrame>
      <p:sp>
        <p:nvSpPr>
          <p:cNvPr id="6" name="mask-card"/>
          <p:cNvSpPr/>
          <p:nvPr/>
        </p:nvSpPr>
        <p:spPr>
          <a:xfrm>
            <a:off x="8503920" y="1783080"/>
            <a:ext cx="3154680" cy="3840480"/>
          </a:xfrm>
          <a:prstGeom prst="roundRect">
            <a:avLst>
              <a:gd name="adj" fmla="val 2319"/>
            </a:avLst>
          </a:prstGeom>
          <a:solidFill>
            <a:srgbClr val="10141E"/>
          </a:solidFill>
          <a:ln w="9525">
            <a:solidFill>
              <a:srgbClr val="262D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IT GOES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23317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3246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N2 mask set ($15M to $30M) and IP licences ($5M to $20M).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42519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Design-service NRE has no public figure; it is an allowance until a partner quotes it.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N2 figures are estimates from public reports; TSMC publishes no prices. Excludes year-1 wafers and capacity prepayment.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UNIT COST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tx2"/>
                </a:solidFill>
              </a:rPr>
              <a:t>About $3,550 per chip in year 1</a:t>
            </a:r>
            <a:endParaRPr lang="en-US" sz="3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874520"/>
          <a:ext cx="51206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chip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Silicon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 to $1,000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HBM3E, four 36 GB stacks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$920 to $1,840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CoWoS-class packaging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$600 to $1,200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Assembly and test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$370 to $600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chip, at the 40-die plan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$2,640 to $4,390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537960" y="47091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1, 40,000 chips: </a:t>
            </a:r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$142M at plan ($106M to $176M), of which $30M is 1,000 N2 wafers.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chip at 40 good dies a wafer. HBM3E and CoWoS from public estimates; contract prices are confidential and rising.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VOLUMES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bg1"/>
                </a:solidFill>
              </a:rPr>
              <a:t>1,000 wafers in 2028, 10× by 2032</a:t>
            </a:r>
            <a:endParaRPr lang="en-US" sz="3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1874520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Wafers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$102M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$174M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400,000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2D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D1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818120" y="4754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targets, not orders. A 100 mm² edge die would give about 550 chips a wafer.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Chips at 40 good 800 mm² dies a wafer (30 to 60 across the yield range). Wafers at today's $30,000; TSMC raised 2026 prices 5 to 10%.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2980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WHAT WE NEED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80467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100" kern="0" dirty="0">
                <a:solidFill>
                  <a:schemeClr val="tx2"/>
                </a:solidFill>
              </a:rPr>
              <a:t>Partners for access, sign-off, IP, packaging and test</a:t>
            </a:r>
            <a:endParaRPr lang="en-US" sz="3600" dirty="0"/>
          </a:p>
        </p:txBody>
      </p:sp>
      <p:sp>
        <p:nvSpPr>
          <p:cNvPr id="5" name="need-0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AFBFE"/>
          </a:solidFill>
          <a:ln w="9525">
            <a:solidFill>
              <a:srgbClr val="D3DA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access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TSMC NDA and N2 PDK, the 2027 shuttle slot, and 2028 wafer allocation.</a:t>
            </a:r>
            <a:endParaRPr lang="en-US" sz="1400" dirty="0"/>
          </a:p>
        </p:txBody>
      </p:sp>
      <p:sp>
        <p:nvSpPr>
          <p:cNvPr id="8" name="need-1"/>
          <p:cNvSpPr/>
          <p:nvPr/>
        </p:nvSpPr>
        <p:spPr>
          <a:xfrm>
            <a:off x="4297680" y="17830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AFBFE"/>
          </a:solidFill>
          <a:ln w="9525">
            <a:solidFill>
              <a:srgbClr val="D3DA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sign-off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N2-certified EDA, DFM and timing, power and reliability sign-off.</a:t>
            </a:r>
            <a:endParaRPr lang="en-US" sz="1400" dirty="0"/>
          </a:p>
        </p:txBody>
      </p:sp>
      <p:sp>
        <p:nvSpPr>
          <p:cNvPr id="11" name="need-2"/>
          <p:cNvSpPr/>
          <p:nvPr/>
        </p:nvSpPr>
        <p:spPr>
          <a:xfrm>
            <a:off x="8046720" y="178308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AFBFE"/>
          </a:solidFill>
          <a:ln w="9525">
            <a:solidFill>
              <a:srgbClr val="D3DA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IP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HBM3E PHY and controller, high-speed I/O, PLLs and clocking.</a:t>
            </a:r>
            <a:endParaRPr lang="en-US" sz="1400" dirty="0"/>
          </a:p>
        </p:txBody>
      </p:sp>
      <p:sp>
        <p:nvSpPr>
          <p:cNvPr id="14" name="need-3"/>
          <p:cNvSpPr/>
          <p:nvPr/>
        </p:nvSpPr>
        <p:spPr>
          <a:xfrm>
            <a:off x="548640" y="3566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AFBFE"/>
          </a:solidFill>
          <a:ln w="9525">
            <a:solidFill>
              <a:srgbClr val="D3DA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160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Flip-chip for the test chip; a CoWoS-class interposer with four HBM3E stacks for production.</a:t>
            </a:r>
            <a:endParaRPr lang="en-US" sz="1400" dirty="0"/>
          </a:p>
        </p:txBody>
      </p:sp>
      <p:sp>
        <p:nvSpPr>
          <p:cNvPr id="17" name="need-4"/>
          <p:cNvSpPr/>
          <p:nvPr/>
        </p:nvSpPr>
        <p:spPr>
          <a:xfrm>
            <a:off x="4297680" y="3566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AFBFE"/>
          </a:solidFill>
          <a:ln w="9525">
            <a:solidFill>
              <a:srgbClr val="D3DA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160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Wafer sort, final test and probe cards, for dozens of dies and then 40,000 a year.</a:t>
            </a:r>
            <a:endParaRPr lang="en-US" sz="1400" dirty="0"/>
          </a:p>
        </p:txBody>
      </p:sp>
      <p:sp>
        <p:nvSpPr>
          <p:cNvPr id="20" name="need-5"/>
          <p:cNvSpPr/>
          <p:nvPr/>
        </p:nvSpPr>
        <p:spPr>
          <a:xfrm>
            <a:off x="8046720" y="35661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AFBFE"/>
          </a:solidFill>
          <a:ln w="9525">
            <a:solidFill>
              <a:srgbClr val="D3DA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160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Shuttle slot, mask set and 2028 wafers, to replace our public-report estimates.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own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RTL, verification and physical design. </a:t>
            </a:r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first-year volume, a Taiwan design-service partner close to TSMC is the practical route; direct engagement as volumes grow.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mark" descr="/private/tmp/claude-501/-Users-aoxo-vscode-superfloat/e80d09e0-888f-4a7c-8c1c-a7ec6f4d69ec/scratchpad/deck/assets/mark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66928"/>
            <a:ext cx="420624" cy="420624"/>
          </a:xfrm>
          <a:prstGeom prst="rect">
            <a:avLst/>
          </a:prstGeom>
        </p:spPr>
      </p:pic>
      <p:pic>
        <p:nvPicPr>
          <p:cNvPr id="3" name="logo-wordmark" descr="/private/tmp/claude-501/-Users-aoxo-vscode-superfloat/e80d09e0-888f-4a7c-8c1c-a7ec6f4d69ec/scratchpad/deck/assets/wordmark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" y="651053"/>
            <a:ext cx="1232526" cy="25237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37744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Intelligence.</a:t>
            </a:r>
            <a:endParaRPr lang="en-US" sz="6000" dirty="0"/>
          </a:p>
          <a:p>
            <a:pPr indent="0" marL="0">
              <a:buNone/>
            </a:pPr>
            <a:r>
              <a:rPr lang="en-US" sz="6000" b="1" spc="-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bit level.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4434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Alosh Denny</a:t>
            </a:r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alosh@superfloat.si  ·  superfloat.si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4892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github.com/aloshdenny  ·  superfloat, .llvm, .cuda, .gpu</a:t>
            </a:r>
            <a:endParaRPr lang="en-US" sz="1200" dirty="0"/>
          </a:p>
        </p:txBody>
      </p:sp>
      <p:sp>
        <p:nvSpPr>
          <p:cNvPr id="7" name="grid-0-0"/>
          <p:cNvSpPr/>
          <p:nvPr/>
        </p:nvSpPr>
        <p:spPr>
          <a:xfrm>
            <a:off x="7882128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" name="grid-0-1"/>
          <p:cNvSpPr/>
          <p:nvPr/>
        </p:nvSpPr>
        <p:spPr>
          <a:xfrm>
            <a:off x="8165592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" name="grid-0-2"/>
          <p:cNvSpPr/>
          <p:nvPr/>
        </p:nvSpPr>
        <p:spPr>
          <a:xfrm>
            <a:off x="8449056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" name="grid-0-3"/>
          <p:cNvSpPr/>
          <p:nvPr/>
        </p:nvSpPr>
        <p:spPr>
          <a:xfrm>
            <a:off x="8732520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" name="grid-0-4"/>
          <p:cNvSpPr/>
          <p:nvPr/>
        </p:nvSpPr>
        <p:spPr>
          <a:xfrm>
            <a:off x="9015984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" name="grid-0-5"/>
          <p:cNvSpPr/>
          <p:nvPr/>
        </p:nvSpPr>
        <p:spPr>
          <a:xfrm>
            <a:off x="9299448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" name="grid-0-6"/>
          <p:cNvSpPr/>
          <p:nvPr/>
        </p:nvSpPr>
        <p:spPr>
          <a:xfrm>
            <a:off x="9582912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" name="grid-0-7"/>
          <p:cNvSpPr/>
          <p:nvPr/>
        </p:nvSpPr>
        <p:spPr>
          <a:xfrm>
            <a:off x="9866376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" name="grid-0-8"/>
          <p:cNvSpPr/>
          <p:nvPr/>
        </p:nvSpPr>
        <p:spPr>
          <a:xfrm>
            <a:off x="10149840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" name="grid-0-9"/>
          <p:cNvSpPr/>
          <p:nvPr/>
        </p:nvSpPr>
        <p:spPr>
          <a:xfrm>
            <a:off x="10433304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" name="grid-0-10"/>
          <p:cNvSpPr/>
          <p:nvPr/>
        </p:nvSpPr>
        <p:spPr>
          <a:xfrm>
            <a:off x="10716768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23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" name="grid-0-11"/>
          <p:cNvSpPr/>
          <p:nvPr/>
        </p:nvSpPr>
        <p:spPr>
          <a:xfrm>
            <a:off x="11000232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" name="grid-0-12"/>
          <p:cNvSpPr/>
          <p:nvPr/>
        </p:nvSpPr>
        <p:spPr>
          <a:xfrm>
            <a:off x="11283696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0" name="grid-0-13"/>
          <p:cNvSpPr/>
          <p:nvPr/>
        </p:nvSpPr>
        <p:spPr>
          <a:xfrm>
            <a:off x="11567160" y="102412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1" name="grid-1-0"/>
          <p:cNvSpPr/>
          <p:nvPr/>
        </p:nvSpPr>
        <p:spPr>
          <a:xfrm>
            <a:off x="7882128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2" name="grid-1-1"/>
          <p:cNvSpPr/>
          <p:nvPr/>
        </p:nvSpPr>
        <p:spPr>
          <a:xfrm>
            <a:off x="8165592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3" name="grid-1-2"/>
          <p:cNvSpPr/>
          <p:nvPr/>
        </p:nvSpPr>
        <p:spPr>
          <a:xfrm>
            <a:off x="8449056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4" name="grid-1-3"/>
          <p:cNvSpPr/>
          <p:nvPr/>
        </p:nvSpPr>
        <p:spPr>
          <a:xfrm>
            <a:off x="8732520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5" name="grid-1-4"/>
          <p:cNvSpPr/>
          <p:nvPr/>
        </p:nvSpPr>
        <p:spPr>
          <a:xfrm>
            <a:off x="9015984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6" name="grid-1-5"/>
          <p:cNvSpPr/>
          <p:nvPr/>
        </p:nvSpPr>
        <p:spPr>
          <a:xfrm>
            <a:off x="9299448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7" name="grid-1-6"/>
          <p:cNvSpPr/>
          <p:nvPr/>
        </p:nvSpPr>
        <p:spPr>
          <a:xfrm>
            <a:off x="9582912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8" name="grid-1-7"/>
          <p:cNvSpPr/>
          <p:nvPr/>
        </p:nvSpPr>
        <p:spPr>
          <a:xfrm>
            <a:off x="9866376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9" name="grid-1-8"/>
          <p:cNvSpPr/>
          <p:nvPr/>
        </p:nvSpPr>
        <p:spPr>
          <a:xfrm>
            <a:off x="10149840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0" name="grid-1-9"/>
          <p:cNvSpPr/>
          <p:nvPr/>
        </p:nvSpPr>
        <p:spPr>
          <a:xfrm>
            <a:off x="10433304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37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1" name="grid-1-10"/>
          <p:cNvSpPr/>
          <p:nvPr/>
        </p:nvSpPr>
        <p:spPr>
          <a:xfrm>
            <a:off x="10716768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2" name="grid-1-11"/>
          <p:cNvSpPr/>
          <p:nvPr/>
        </p:nvSpPr>
        <p:spPr>
          <a:xfrm>
            <a:off x="11000232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3" name="grid-1-12"/>
          <p:cNvSpPr/>
          <p:nvPr/>
        </p:nvSpPr>
        <p:spPr>
          <a:xfrm>
            <a:off x="11283696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4" name="grid-1-13"/>
          <p:cNvSpPr/>
          <p:nvPr/>
        </p:nvSpPr>
        <p:spPr>
          <a:xfrm>
            <a:off x="11567160" y="130759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5" name="grid-2-0"/>
          <p:cNvSpPr/>
          <p:nvPr/>
        </p:nvSpPr>
        <p:spPr>
          <a:xfrm>
            <a:off x="7882128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6" name="grid-2-1"/>
          <p:cNvSpPr/>
          <p:nvPr/>
        </p:nvSpPr>
        <p:spPr>
          <a:xfrm>
            <a:off x="8165592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7" name="grid-2-2"/>
          <p:cNvSpPr/>
          <p:nvPr/>
        </p:nvSpPr>
        <p:spPr>
          <a:xfrm>
            <a:off x="8449056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8" name="grid-2-3"/>
          <p:cNvSpPr/>
          <p:nvPr/>
        </p:nvSpPr>
        <p:spPr>
          <a:xfrm>
            <a:off x="8732520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39" name="grid-2-4"/>
          <p:cNvSpPr/>
          <p:nvPr/>
        </p:nvSpPr>
        <p:spPr>
          <a:xfrm>
            <a:off x="9015984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0" name="grid-2-5"/>
          <p:cNvSpPr/>
          <p:nvPr/>
        </p:nvSpPr>
        <p:spPr>
          <a:xfrm>
            <a:off x="9299448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1" name="grid-2-6"/>
          <p:cNvSpPr/>
          <p:nvPr/>
        </p:nvSpPr>
        <p:spPr>
          <a:xfrm>
            <a:off x="9582912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2" name="grid-2-7"/>
          <p:cNvSpPr/>
          <p:nvPr/>
        </p:nvSpPr>
        <p:spPr>
          <a:xfrm>
            <a:off x="9866376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3" name="grid-2-8"/>
          <p:cNvSpPr/>
          <p:nvPr/>
        </p:nvSpPr>
        <p:spPr>
          <a:xfrm>
            <a:off x="10149840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51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4" name="grid-2-9"/>
          <p:cNvSpPr/>
          <p:nvPr/>
        </p:nvSpPr>
        <p:spPr>
          <a:xfrm>
            <a:off x="10433304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5" name="grid-2-10"/>
          <p:cNvSpPr/>
          <p:nvPr/>
        </p:nvSpPr>
        <p:spPr>
          <a:xfrm>
            <a:off x="10716768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6" name="grid-2-11"/>
          <p:cNvSpPr/>
          <p:nvPr/>
        </p:nvSpPr>
        <p:spPr>
          <a:xfrm>
            <a:off x="11000232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7" name="grid-2-12"/>
          <p:cNvSpPr/>
          <p:nvPr/>
        </p:nvSpPr>
        <p:spPr>
          <a:xfrm>
            <a:off x="11283696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8" name="grid-2-13"/>
          <p:cNvSpPr/>
          <p:nvPr/>
        </p:nvSpPr>
        <p:spPr>
          <a:xfrm>
            <a:off x="11567160" y="159105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49" name="grid-3-0"/>
          <p:cNvSpPr/>
          <p:nvPr/>
        </p:nvSpPr>
        <p:spPr>
          <a:xfrm>
            <a:off x="7882128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0" name="grid-3-1"/>
          <p:cNvSpPr/>
          <p:nvPr/>
        </p:nvSpPr>
        <p:spPr>
          <a:xfrm>
            <a:off x="8165592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1" name="grid-3-2"/>
          <p:cNvSpPr/>
          <p:nvPr/>
        </p:nvSpPr>
        <p:spPr>
          <a:xfrm>
            <a:off x="8449056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2" name="grid-3-3"/>
          <p:cNvSpPr/>
          <p:nvPr/>
        </p:nvSpPr>
        <p:spPr>
          <a:xfrm>
            <a:off x="8732520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3" name="grid-3-4"/>
          <p:cNvSpPr/>
          <p:nvPr/>
        </p:nvSpPr>
        <p:spPr>
          <a:xfrm>
            <a:off x="9015984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4" name="grid-3-5"/>
          <p:cNvSpPr/>
          <p:nvPr/>
        </p:nvSpPr>
        <p:spPr>
          <a:xfrm>
            <a:off x="9299448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5" name="grid-3-6"/>
          <p:cNvSpPr/>
          <p:nvPr/>
        </p:nvSpPr>
        <p:spPr>
          <a:xfrm>
            <a:off x="9582912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6" name="grid-3-7"/>
          <p:cNvSpPr/>
          <p:nvPr/>
        </p:nvSpPr>
        <p:spPr>
          <a:xfrm>
            <a:off x="9866376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/>
          </a:solidFill>
          <a:ln w="15875">
            <a:solidFill>
              <a:srgbClr val="E9EDF6"/>
            </a:solidFill>
            <a:prstDash val="solid"/>
          </a:ln>
        </p:spPr>
      </p:sp>
      <p:sp>
        <p:nvSpPr>
          <p:cNvPr id="57" name="grid-3-8"/>
          <p:cNvSpPr/>
          <p:nvPr/>
        </p:nvSpPr>
        <p:spPr>
          <a:xfrm>
            <a:off x="10149840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8" name="grid-3-9"/>
          <p:cNvSpPr/>
          <p:nvPr/>
        </p:nvSpPr>
        <p:spPr>
          <a:xfrm>
            <a:off x="10433304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59" name="grid-3-10"/>
          <p:cNvSpPr/>
          <p:nvPr/>
        </p:nvSpPr>
        <p:spPr>
          <a:xfrm>
            <a:off x="10716768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0" name="grid-3-11"/>
          <p:cNvSpPr/>
          <p:nvPr/>
        </p:nvSpPr>
        <p:spPr>
          <a:xfrm>
            <a:off x="11000232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1" name="grid-3-12"/>
          <p:cNvSpPr/>
          <p:nvPr/>
        </p:nvSpPr>
        <p:spPr>
          <a:xfrm>
            <a:off x="11283696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2" name="grid-3-13"/>
          <p:cNvSpPr/>
          <p:nvPr/>
        </p:nvSpPr>
        <p:spPr>
          <a:xfrm>
            <a:off x="11567160" y="187452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3" name="grid-4-0"/>
          <p:cNvSpPr/>
          <p:nvPr/>
        </p:nvSpPr>
        <p:spPr>
          <a:xfrm>
            <a:off x="7882128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4" name="grid-4-1"/>
          <p:cNvSpPr/>
          <p:nvPr/>
        </p:nvSpPr>
        <p:spPr>
          <a:xfrm>
            <a:off x="8165592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5" name="grid-4-2"/>
          <p:cNvSpPr/>
          <p:nvPr/>
        </p:nvSpPr>
        <p:spPr>
          <a:xfrm>
            <a:off x="8449056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6" name="grid-4-3"/>
          <p:cNvSpPr/>
          <p:nvPr/>
        </p:nvSpPr>
        <p:spPr>
          <a:xfrm>
            <a:off x="8732520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7" name="grid-4-4"/>
          <p:cNvSpPr/>
          <p:nvPr/>
        </p:nvSpPr>
        <p:spPr>
          <a:xfrm>
            <a:off x="9015984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8" name="grid-4-5"/>
          <p:cNvSpPr/>
          <p:nvPr/>
        </p:nvSpPr>
        <p:spPr>
          <a:xfrm>
            <a:off x="9299448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69" name="grid-4-6"/>
          <p:cNvSpPr/>
          <p:nvPr/>
        </p:nvSpPr>
        <p:spPr>
          <a:xfrm>
            <a:off x="9582912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67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0" name="grid-4-7"/>
          <p:cNvSpPr/>
          <p:nvPr/>
        </p:nvSpPr>
        <p:spPr>
          <a:xfrm>
            <a:off x="9866376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1" name="grid-4-8"/>
          <p:cNvSpPr/>
          <p:nvPr/>
        </p:nvSpPr>
        <p:spPr>
          <a:xfrm>
            <a:off x="10149840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2" name="grid-4-9"/>
          <p:cNvSpPr/>
          <p:nvPr/>
        </p:nvSpPr>
        <p:spPr>
          <a:xfrm>
            <a:off x="10433304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3" name="grid-4-10"/>
          <p:cNvSpPr/>
          <p:nvPr/>
        </p:nvSpPr>
        <p:spPr>
          <a:xfrm>
            <a:off x="10716768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4" name="grid-4-11"/>
          <p:cNvSpPr/>
          <p:nvPr/>
        </p:nvSpPr>
        <p:spPr>
          <a:xfrm>
            <a:off x="11000232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5" name="grid-4-12"/>
          <p:cNvSpPr/>
          <p:nvPr/>
        </p:nvSpPr>
        <p:spPr>
          <a:xfrm>
            <a:off x="11283696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6" name="grid-4-13"/>
          <p:cNvSpPr/>
          <p:nvPr/>
        </p:nvSpPr>
        <p:spPr>
          <a:xfrm>
            <a:off x="11567160" y="215798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7" name="grid-5-0"/>
          <p:cNvSpPr/>
          <p:nvPr/>
        </p:nvSpPr>
        <p:spPr>
          <a:xfrm>
            <a:off x="7882128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8" name="grid-5-1"/>
          <p:cNvSpPr/>
          <p:nvPr/>
        </p:nvSpPr>
        <p:spPr>
          <a:xfrm>
            <a:off x="8165592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79" name="grid-5-2"/>
          <p:cNvSpPr/>
          <p:nvPr/>
        </p:nvSpPr>
        <p:spPr>
          <a:xfrm>
            <a:off x="8449056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0" name="grid-5-3"/>
          <p:cNvSpPr/>
          <p:nvPr/>
        </p:nvSpPr>
        <p:spPr>
          <a:xfrm>
            <a:off x="8732520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1" name="grid-5-4"/>
          <p:cNvSpPr/>
          <p:nvPr/>
        </p:nvSpPr>
        <p:spPr>
          <a:xfrm>
            <a:off x="9015984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2" name="grid-5-5"/>
          <p:cNvSpPr/>
          <p:nvPr/>
        </p:nvSpPr>
        <p:spPr>
          <a:xfrm>
            <a:off x="9299448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59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3" name="grid-5-6"/>
          <p:cNvSpPr/>
          <p:nvPr/>
        </p:nvSpPr>
        <p:spPr>
          <a:xfrm>
            <a:off x="9582912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4" name="grid-5-7"/>
          <p:cNvSpPr/>
          <p:nvPr/>
        </p:nvSpPr>
        <p:spPr>
          <a:xfrm>
            <a:off x="9866376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5" name="grid-5-8"/>
          <p:cNvSpPr/>
          <p:nvPr/>
        </p:nvSpPr>
        <p:spPr>
          <a:xfrm>
            <a:off x="10149840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6" name="grid-5-9"/>
          <p:cNvSpPr/>
          <p:nvPr/>
        </p:nvSpPr>
        <p:spPr>
          <a:xfrm>
            <a:off x="10433304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7" name="grid-5-10"/>
          <p:cNvSpPr/>
          <p:nvPr/>
        </p:nvSpPr>
        <p:spPr>
          <a:xfrm>
            <a:off x="10716768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8" name="grid-5-11"/>
          <p:cNvSpPr/>
          <p:nvPr/>
        </p:nvSpPr>
        <p:spPr>
          <a:xfrm>
            <a:off x="11000232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89" name="grid-5-12"/>
          <p:cNvSpPr/>
          <p:nvPr/>
        </p:nvSpPr>
        <p:spPr>
          <a:xfrm>
            <a:off x="11283696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0" name="grid-5-13"/>
          <p:cNvSpPr/>
          <p:nvPr/>
        </p:nvSpPr>
        <p:spPr>
          <a:xfrm>
            <a:off x="11567160" y="244144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1" name="grid-6-0"/>
          <p:cNvSpPr/>
          <p:nvPr/>
        </p:nvSpPr>
        <p:spPr>
          <a:xfrm>
            <a:off x="7882128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2" name="grid-6-1"/>
          <p:cNvSpPr/>
          <p:nvPr/>
        </p:nvSpPr>
        <p:spPr>
          <a:xfrm>
            <a:off x="8165592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3" name="grid-6-2"/>
          <p:cNvSpPr/>
          <p:nvPr/>
        </p:nvSpPr>
        <p:spPr>
          <a:xfrm>
            <a:off x="8449056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4" name="grid-6-3"/>
          <p:cNvSpPr/>
          <p:nvPr/>
        </p:nvSpPr>
        <p:spPr>
          <a:xfrm>
            <a:off x="8732520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5" name="grid-6-4"/>
          <p:cNvSpPr/>
          <p:nvPr/>
        </p:nvSpPr>
        <p:spPr>
          <a:xfrm>
            <a:off x="9015984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51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6" name="grid-6-5"/>
          <p:cNvSpPr/>
          <p:nvPr/>
        </p:nvSpPr>
        <p:spPr>
          <a:xfrm>
            <a:off x="9299448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7" name="grid-6-6"/>
          <p:cNvSpPr/>
          <p:nvPr/>
        </p:nvSpPr>
        <p:spPr>
          <a:xfrm>
            <a:off x="9582912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8" name="grid-6-7"/>
          <p:cNvSpPr/>
          <p:nvPr/>
        </p:nvSpPr>
        <p:spPr>
          <a:xfrm>
            <a:off x="9866376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99" name="grid-6-8"/>
          <p:cNvSpPr/>
          <p:nvPr/>
        </p:nvSpPr>
        <p:spPr>
          <a:xfrm>
            <a:off x="10149840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0" name="grid-6-9"/>
          <p:cNvSpPr/>
          <p:nvPr/>
        </p:nvSpPr>
        <p:spPr>
          <a:xfrm>
            <a:off x="10433304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1" name="grid-6-10"/>
          <p:cNvSpPr/>
          <p:nvPr/>
        </p:nvSpPr>
        <p:spPr>
          <a:xfrm>
            <a:off x="10716768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2" name="grid-6-11"/>
          <p:cNvSpPr/>
          <p:nvPr/>
        </p:nvSpPr>
        <p:spPr>
          <a:xfrm>
            <a:off x="11000232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3" name="grid-6-12"/>
          <p:cNvSpPr/>
          <p:nvPr/>
        </p:nvSpPr>
        <p:spPr>
          <a:xfrm>
            <a:off x="11283696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4" name="grid-6-13"/>
          <p:cNvSpPr/>
          <p:nvPr/>
        </p:nvSpPr>
        <p:spPr>
          <a:xfrm>
            <a:off x="11567160" y="272491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5" name="grid-7-0"/>
          <p:cNvSpPr/>
          <p:nvPr/>
        </p:nvSpPr>
        <p:spPr>
          <a:xfrm>
            <a:off x="7882128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6" name="grid-7-1"/>
          <p:cNvSpPr/>
          <p:nvPr/>
        </p:nvSpPr>
        <p:spPr>
          <a:xfrm>
            <a:off x="8165592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7" name="grid-7-2"/>
          <p:cNvSpPr/>
          <p:nvPr/>
        </p:nvSpPr>
        <p:spPr>
          <a:xfrm>
            <a:off x="8449056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8" name="grid-7-3"/>
          <p:cNvSpPr/>
          <p:nvPr/>
        </p:nvSpPr>
        <p:spPr>
          <a:xfrm>
            <a:off x="8732520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43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09" name="grid-7-4"/>
          <p:cNvSpPr/>
          <p:nvPr/>
        </p:nvSpPr>
        <p:spPr>
          <a:xfrm>
            <a:off x="9015984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0" name="grid-7-5"/>
          <p:cNvSpPr/>
          <p:nvPr/>
        </p:nvSpPr>
        <p:spPr>
          <a:xfrm>
            <a:off x="9299448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1" name="grid-7-6"/>
          <p:cNvSpPr/>
          <p:nvPr/>
        </p:nvSpPr>
        <p:spPr>
          <a:xfrm>
            <a:off x="9582912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2" name="grid-7-7"/>
          <p:cNvSpPr/>
          <p:nvPr/>
        </p:nvSpPr>
        <p:spPr>
          <a:xfrm>
            <a:off x="9866376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3" name="grid-7-8"/>
          <p:cNvSpPr/>
          <p:nvPr/>
        </p:nvSpPr>
        <p:spPr>
          <a:xfrm>
            <a:off x="10149840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4" name="grid-7-9"/>
          <p:cNvSpPr/>
          <p:nvPr/>
        </p:nvSpPr>
        <p:spPr>
          <a:xfrm>
            <a:off x="10433304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5" name="grid-7-10"/>
          <p:cNvSpPr/>
          <p:nvPr/>
        </p:nvSpPr>
        <p:spPr>
          <a:xfrm>
            <a:off x="10716768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6" name="grid-7-11"/>
          <p:cNvSpPr/>
          <p:nvPr/>
        </p:nvSpPr>
        <p:spPr>
          <a:xfrm>
            <a:off x="11000232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7" name="grid-7-12"/>
          <p:cNvSpPr/>
          <p:nvPr/>
        </p:nvSpPr>
        <p:spPr>
          <a:xfrm>
            <a:off x="11283696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8" name="grid-7-13"/>
          <p:cNvSpPr/>
          <p:nvPr/>
        </p:nvSpPr>
        <p:spPr>
          <a:xfrm>
            <a:off x="11567160" y="300837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19" name="grid-8-0"/>
          <p:cNvSpPr/>
          <p:nvPr/>
        </p:nvSpPr>
        <p:spPr>
          <a:xfrm>
            <a:off x="7882128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0" name="grid-8-1"/>
          <p:cNvSpPr/>
          <p:nvPr/>
        </p:nvSpPr>
        <p:spPr>
          <a:xfrm>
            <a:off x="8165592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1" name="grid-8-2"/>
          <p:cNvSpPr/>
          <p:nvPr/>
        </p:nvSpPr>
        <p:spPr>
          <a:xfrm>
            <a:off x="8449056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35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2" name="grid-8-3"/>
          <p:cNvSpPr/>
          <p:nvPr/>
        </p:nvSpPr>
        <p:spPr>
          <a:xfrm>
            <a:off x="8732520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3" name="grid-8-4"/>
          <p:cNvSpPr/>
          <p:nvPr/>
        </p:nvSpPr>
        <p:spPr>
          <a:xfrm>
            <a:off x="9015984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4" name="grid-8-5"/>
          <p:cNvSpPr/>
          <p:nvPr/>
        </p:nvSpPr>
        <p:spPr>
          <a:xfrm>
            <a:off x="9299448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5" name="grid-8-6"/>
          <p:cNvSpPr/>
          <p:nvPr/>
        </p:nvSpPr>
        <p:spPr>
          <a:xfrm>
            <a:off x="9582912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6" name="grid-8-7"/>
          <p:cNvSpPr/>
          <p:nvPr/>
        </p:nvSpPr>
        <p:spPr>
          <a:xfrm>
            <a:off x="9866376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7" name="grid-8-8"/>
          <p:cNvSpPr/>
          <p:nvPr/>
        </p:nvSpPr>
        <p:spPr>
          <a:xfrm>
            <a:off x="10149840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8" name="grid-8-9"/>
          <p:cNvSpPr/>
          <p:nvPr/>
        </p:nvSpPr>
        <p:spPr>
          <a:xfrm>
            <a:off x="10433304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29" name="grid-8-10"/>
          <p:cNvSpPr/>
          <p:nvPr/>
        </p:nvSpPr>
        <p:spPr>
          <a:xfrm>
            <a:off x="10716768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0" name="grid-8-11"/>
          <p:cNvSpPr/>
          <p:nvPr/>
        </p:nvSpPr>
        <p:spPr>
          <a:xfrm>
            <a:off x="11000232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1" name="grid-8-12"/>
          <p:cNvSpPr/>
          <p:nvPr/>
        </p:nvSpPr>
        <p:spPr>
          <a:xfrm>
            <a:off x="11283696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2" name="grid-8-13"/>
          <p:cNvSpPr/>
          <p:nvPr/>
        </p:nvSpPr>
        <p:spPr>
          <a:xfrm>
            <a:off x="11567160" y="329184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3" name="grid-9-0"/>
          <p:cNvSpPr/>
          <p:nvPr/>
        </p:nvSpPr>
        <p:spPr>
          <a:xfrm>
            <a:off x="7882128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4" name="grid-9-1"/>
          <p:cNvSpPr/>
          <p:nvPr/>
        </p:nvSpPr>
        <p:spPr>
          <a:xfrm>
            <a:off x="8165592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27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5" name="grid-9-2"/>
          <p:cNvSpPr/>
          <p:nvPr/>
        </p:nvSpPr>
        <p:spPr>
          <a:xfrm>
            <a:off x="8449056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6" name="grid-9-3"/>
          <p:cNvSpPr/>
          <p:nvPr/>
        </p:nvSpPr>
        <p:spPr>
          <a:xfrm>
            <a:off x="8732520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7" name="grid-9-4"/>
          <p:cNvSpPr/>
          <p:nvPr/>
        </p:nvSpPr>
        <p:spPr>
          <a:xfrm>
            <a:off x="9015984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8" name="grid-9-5"/>
          <p:cNvSpPr/>
          <p:nvPr/>
        </p:nvSpPr>
        <p:spPr>
          <a:xfrm>
            <a:off x="9299448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39" name="grid-9-6"/>
          <p:cNvSpPr/>
          <p:nvPr/>
        </p:nvSpPr>
        <p:spPr>
          <a:xfrm>
            <a:off x="9582912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0" name="grid-9-7"/>
          <p:cNvSpPr/>
          <p:nvPr/>
        </p:nvSpPr>
        <p:spPr>
          <a:xfrm>
            <a:off x="9866376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1" name="grid-9-8"/>
          <p:cNvSpPr/>
          <p:nvPr/>
        </p:nvSpPr>
        <p:spPr>
          <a:xfrm>
            <a:off x="10149840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2" name="grid-9-9"/>
          <p:cNvSpPr/>
          <p:nvPr/>
        </p:nvSpPr>
        <p:spPr>
          <a:xfrm>
            <a:off x="10433304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3" name="grid-9-10"/>
          <p:cNvSpPr/>
          <p:nvPr/>
        </p:nvSpPr>
        <p:spPr>
          <a:xfrm>
            <a:off x="10716768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4" name="grid-9-11"/>
          <p:cNvSpPr/>
          <p:nvPr/>
        </p:nvSpPr>
        <p:spPr>
          <a:xfrm>
            <a:off x="11000232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5" name="grid-9-12"/>
          <p:cNvSpPr/>
          <p:nvPr/>
        </p:nvSpPr>
        <p:spPr>
          <a:xfrm>
            <a:off x="11283696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6" name="grid-9-13"/>
          <p:cNvSpPr/>
          <p:nvPr/>
        </p:nvSpPr>
        <p:spPr>
          <a:xfrm>
            <a:off x="11567160" y="3575304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7" name="grid-10-0"/>
          <p:cNvSpPr/>
          <p:nvPr/>
        </p:nvSpPr>
        <p:spPr>
          <a:xfrm>
            <a:off x="7882128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7AA7FF">
              <a:alpha val="19000"/>
            </a:srgbClr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8" name="grid-10-1"/>
          <p:cNvSpPr/>
          <p:nvPr/>
        </p:nvSpPr>
        <p:spPr>
          <a:xfrm>
            <a:off x="8165592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49" name="grid-10-2"/>
          <p:cNvSpPr/>
          <p:nvPr/>
        </p:nvSpPr>
        <p:spPr>
          <a:xfrm>
            <a:off x="8449056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0" name="grid-10-3"/>
          <p:cNvSpPr/>
          <p:nvPr/>
        </p:nvSpPr>
        <p:spPr>
          <a:xfrm>
            <a:off x="8732520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1" name="grid-10-4"/>
          <p:cNvSpPr/>
          <p:nvPr/>
        </p:nvSpPr>
        <p:spPr>
          <a:xfrm>
            <a:off x="9015984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2" name="grid-10-5"/>
          <p:cNvSpPr/>
          <p:nvPr/>
        </p:nvSpPr>
        <p:spPr>
          <a:xfrm>
            <a:off x="9299448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3" name="grid-10-6"/>
          <p:cNvSpPr/>
          <p:nvPr/>
        </p:nvSpPr>
        <p:spPr>
          <a:xfrm>
            <a:off x="9582912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4" name="grid-10-7"/>
          <p:cNvSpPr/>
          <p:nvPr/>
        </p:nvSpPr>
        <p:spPr>
          <a:xfrm>
            <a:off x="9866376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5" name="grid-10-8"/>
          <p:cNvSpPr/>
          <p:nvPr/>
        </p:nvSpPr>
        <p:spPr>
          <a:xfrm>
            <a:off x="10149840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6" name="grid-10-9"/>
          <p:cNvSpPr/>
          <p:nvPr/>
        </p:nvSpPr>
        <p:spPr>
          <a:xfrm>
            <a:off x="10433304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7" name="grid-10-10"/>
          <p:cNvSpPr/>
          <p:nvPr/>
        </p:nvSpPr>
        <p:spPr>
          <a:xfrm>
            <a:off x="10716768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8" name="grid-10-11"/>
          <p:cNvSpPr/>
          <p:nvPr/>
        </p:nvSpPr>
        <p:spPr>
          <a:xfrm>
            <a:off x="11000232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59" name="grid-10-12"/>
          <p:cNvSpPr/>
          <p:nvPr/>
        </p:nvSpPr>
        <p:spPr>
          <a:xfrm>
            <a:off x="11283696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0" name="grid-10-13"/>
          <p:cNvSpPr/>
          <p:nvPr/>
        </p:nvSpPr>
        <p:spPr>
          <a:xfrm>
            <a:off x="11567160" y="3858768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1" name="grid-11-0"/>
          <p:cNvSpPr/>
          <p:nvPr/>
        </p:nvSpPr>
        <p:spPr>
          <a:xfrm>
            <a:off x="7882128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2" name="grid-11-1"/>
          <p:cNvSpPr/>
          <p:nvPr/>
        </p:nvSpPr>
        <p:spPr>
          <a:xfrm>
            <a:off x="8165592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3" name="grid-11-2"/>
          <p:cNvSpPr/>
          <p:nvPr/>
        </p:nvSpPr>
        <p:spPr>
          <a:xfrm>
            <a:off x="8449056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4" name="grid-11-3"/>
          <p:cNvSpPr/>
          <p:nvPr/>
        </p:nvSpPr>
        <p:spPr>
          <a:xfrm>
            <a:off x="8732520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5" name="grid-11-4"/>
          <p:cNvSpPr/>
          <p:nvPr/>
        </p:nvSpPr>
        <p:spPr>
          <a:xfrm>
            <a:off x="9015984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6" name="grid-11-5"/>
          <p:cNvSpPr/>
          <p:nvPr/>
        </p:nvSpPr>
        <p:spPr>
          <a:xfrm>
            <a:off x="9299448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7" name="grid-11-6"/>
          <p:cNvSpPr/>
          <p:nvPr/>
        </p:nvSpPr>
        <p:spPr>
          <a:xfrm>
            <a:off x="9582912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8" name="grid-11-7"/>
          <p:cNvSpPr/>
          <p:nvPr/>
        </p:nvSpPr>
        <p:spPr>
          <a:xfrm>
            <a:off x="9866376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69" name="grid-11-8"/>
          <p:cNvSpPr/>
          <p:nvPr/>
        </p:nvSpPr>
        <p:spPr>
          <a:xfrm>
            <a:off x="10149840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0" name="grid-11-9"/>
          <p:cNvSpPr/>
          <p:nvPr/>
        </p:nvSpPr>
        <p:spPr>
          <a:xfrm>
            <a:off x="10433304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1" name="grid-11-10"/>
          <p:cNvSpPr/>
          <p:nvPr/>
        </p:nvSpPr>
        <p:spPr>
          <a:xfrm>
            <a:off x="10716768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2" name="grid-11-11"/>
          <p:cNvSpPr/>
          <p:nvPr/>
        </p:nvSpPr>
        <p:spPr>
          <a:xfrm>
            <a:off x="11000232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3" name="grid-11-12"/>
          <p:cNvSpPr/>
          <p:nvPr/>
        </p:nvSpPr>
        <p:spPr>
          <a:xfrm>
            <a:off x="11283696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4" name="grid-11-13"/>
          <p:cNvSpPr/>
          <p:nvPr/>
        </p:nvSpPr>
        <p:spPr>
          <a:xfrm>
            <a:off x="11567160" y="4142232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5" name="grid-12-0"/>
          <p:cNvSpPr/>
          <p:nvPr/>
        </p:nvSpPr>
        <p:spPr>
          <a:xfrm>
            <a:off x="7882128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6" name="grid-12-1"/>
          <p:cNvSpPr/>
          <p:nvPr/>
        </p:nvSpPr>
        <p:spPr>
          <a:xfrm>
            <a:off x="8165592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7" name="grid-12-2"/>
          <p:cNvSpPr/>
          <p:nvPr/>
        </p:nvSpPr>
        <p:spPr>
          <a:xfrm>
            <a:off x="8449056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8" name="grid-12-3"/>
          <p:cNvSpPr/>
          <p:nvPr/>
        </p:nvSpPr>
        <p:spPr>
          <a:xfrm>
            <a:off x="8732520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79" name="grid-12-4"/>
          <p:cNvSpPr/>
          <p:nvPr/>
        </p:nvSpPr>
        <p:spPr>
          <a:xfrm>
            <a:off x="9015984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0" name="grid-12-5"/>
          <p:cNvSpPr/>
          <p:nvPr/>
        </p:nvSpPr>
        <p:spPr>
          <a:xfrm>
            <a:off x="9299448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1" name="grid-12-6"/>
          <p:cNvSpPr/>
          <p:nvPr/>
        </p:nvSpPr>
        <p:spPr>
          <a:xfrm>
            <a:off x="9582912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2" name="grid-12-7"/>
          <p:cNvSpPr/>
          <p:nvPr/>
        </p:nvSpPr>
        <p:spPr>
          <a:xfrm>
            <a:off x="9866376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3" name="grid-12-8"/>
          <p:cNvSpPr/>
          <p:nvPr/>
        </p:nvSpPr>
        <p:spPr>
          <a:xfrm>
            <a:off x="10149840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4" name="grid-12-9"/>
          <p:cNvSpPr/>
          <p:nvPr/>
        </p:nvSpPr>
        <p:spPr>
          <a:xfrm>
            <a:off x="10433304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5" name="grid-12-10"/>
          <p:cNvSpPr/>
          <p:nvPr/>
        </p:nvSpPr>
        <p:spPr>
          <a:xfrm>
            <a:off x="10716768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6" name="grid-12-11"/>
          <p:cNvSpPr/>
          <p:nvPr/>
        </p:nvSpPr>
        <p:spPr>
          <a:xfrm>
            <a:off x="11000232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7" name="grid-12-12"/>
          <p:cNvSpPr/>
          <p:nvPr/>
        </p:nvSpPr>
        <p:spPr>
          <a:xfrm>
            <a:off x="11283696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8" name="grid-12-13"/>
          <p:cNvSpPr/>
          <p:nvPr/>
        </p:nvSpPr>
        <p:spPr>
          <a:xfrm>
            <a:off x="11567160" y="4425696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89" name="grid-13-0"/>
          <p:cNvSpPr/>
          <p:nvPr/>
        </p:nvSpPr>
        <p:spPr>
          <a:xfrm>
            <a:off x="7882128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0" name="grid-13-1"/>
          <p:cNvSpPr/>
          <p:nvPr/>
        </p:nvSpPr>
        <p:spPr>
          <a:xfrm>
            <a:off x="8165592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1" name="grid-13-2"/>
          <p:cNvSpPr/>
          <p:nvPr/>
        </p:nvSpPr>
        <p:spPr>
          <a:xfrm>
            <a:off x="8449056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2" name="grid-13-3"/>
          <p:cNvSpPr/>
          <p:nvPr/>
        </p:nvSpPr>
        <p:spPr>
          <a:xfrm>
            <a:off x="8732520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3" name="grid-13-4"/>
          <p:cNvSpPr/>
          <p:nvPr/>
        </p:nvSpPr>
        <p:spPr>
          <a:xfrm>
            <a:off x="9015984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4" name="grid-13-5"/>
          <p:cNvSpPr/>
          <p:nvPr/>
        </p:nvSpPr>
        <p:spPr>
          <a:xfrm>
            <a:off x="9299448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5" name="grid-13-6"/>
          <p:cNvSpPr/>
          <p:nvPr/>
        </p:nvSpPr>
        <p:spPr>
          <a:xfrm>
            <a:off x="9582912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6" name="grid-13-7"/>
          <p:cNvSpPr/>
          <p:nvPr/>
        </p:nvSpPr>
        <p:spPr>
          <a:xfrm>
            <a:off x="9866376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41B2C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7" name="grid-13-8"/>
          <p:cNvSpPr/>
          <p:nvPr/>
        </p:nvSpPr>
        <p:spPr>
          <a:xfrm>
            <a:off x="10149840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8" name="grid-13-9"/>
          <p:cNvSpPr/>
          <p:nvPr/>
        </p:nvSpPr>
        <p:spPr>
          <a:xfrm>
            <a:off x="10433304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199" name="grid-13-10"/>
          <p:cNvSpPr/>
          <p:nvPr/>
        </p:nvSpPr>
        <p:spPr>
          <a:xfrm>
            <a:off x="10716768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00" name="grid-13-11"/>
          <p:cNvSpPr/>
          <p:nvPr/>
        </p:nvSpPr>
        <p:spPr>
          <a:xfrm>
            <a:off x="11000232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01" name="grid-13-12"/>
          <p:cNvSpPr/>
          <p:nvPr/>
        </p:nvSpPr>
        <p:spPr>
          <a:xfrm>
            <a:off x="11283696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02" name="grid-13-13"/>
          <p:cNvSpPr/>
          <p:nvPr/>
        </p:nvSpPr>
        <p:spPr>
          <a:xfrm>
            <a:off x="11567160" y="4709160"/>
            <a:ext cx="219456" cy="219456"/>
          </a:xfrm>
          <a:prstGeom prst="roundRect">
            <a:avLst>
              <a:gd name="adj" fmla="val 18000"/>
            </a:avLst>
          </a:prstGeom>
          <a:solidFill>
            <a:srgbClr val="10141E"/>
          </a:solidFill>
          <a:ln w="6350">
            <a:solidFill>
              <a:srgbClr val="262D3D"/>
            </a:solidFill>
            <a:prstDash val="solid"/>
          </a:ln>
        </p:spPr>
      </p:sp>
      <p:sp>
        <p:nvSpPr>
          <p:cNvPr id="203" name="Text 199"/>
          <p:cNvSpPr txBox="1"/>
          <p:nvPr/>
        </p:nvSpPr>
        <p:spPr>
          <a:xfrm>
            <a:off x="8869680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October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erfloat">
  <a:themeElements>
    <a:clrScheme name="Superfloat">
      <a:dk1>
        <a:srgbClr val="0A0D14"/>
      </a:dk1>
      <a:lt1>
        <a:srgbClr val="E9EDF6"/>
      </a:lt1>
      <a:dk2>
        <a:srgbClr val="141A27"/>
      </a:dk2>
      <a:lt2>
        <a:srgbClr val="F4F6FA"/>
      </a:lt2>
      <a:accent1>
        <a:srgbClr val="7AA7FF"/>
      </a:accent1>
      <a:accent2>
        <a:srgbClr val="2557D6"/>
      </a:accent2>
      <a:accent3>
        <a:srgbClr val="9AA4B8"/>
      </a:accent3>
      <a:accent4>
        <a:srgbClr val="566075"/>
      </a:accent4>
      <a:accent5>
        <a:srgbClr val="10141E"/>
      </a:accent5>
      <a:accent6>
        <a:srgbClr val="262D3D"/>
      </a:accent6>
      <a:hlink>
        <a:srgbClr val="7AA7FF"/>
      </a:hlink>
      <a:folHlink>
        <a:srgbClr val="9AA4B8"/>
      </a:folHlink>
    </a:clrScheme>
    <a:fontScheme name="Superfloa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SuperFloat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Atreides: 2 nm readiness and budget</dc:title>
  <dc:subject>PptxGenJS Presentation</dc:subject>
  <dc:creator>Alosh Denny</dc:creator>
  <cp:lastModifiedBy>Alosh Denny</cp:lastModifiedBy>
  <cp:revision>1</cp:revision>
  <dcterms:created xsi:type="dcterms:W3CDTF">2026-10-15T21:16:49Z</dcterms:created>
  <dcterms:modified xsi:type="dcterms:W3CDTF">2026-10-15T21:16:49Z</dcterms:modified>
</cp:coreProperties>
</file>